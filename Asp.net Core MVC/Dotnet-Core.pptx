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269" r:id="rId2"/>
    <p:sldId id="281" r:id="rId3"/>
    <p:sldId id="287" r:id="rId4"/>
    <p:sldId id="288" r:id="rId5"/>
    <p:sldId id="289" r:id="rId6"/>
    <p:sldId id="290" r:id="rId7"/>
    <p:sldId id="282" r:id="rId8"/>
    <p:sldId id="283" r:id="rId9"/>
    <p:sldId id="274" r:id="rId10"/>
    <p:sldId id="285" r:id="rId11"/>
    <p:sldId id="286" r:id="rId12"/>
    <p:sldId id="291" r:id="rId13"/>
    <p:sldId id="278" r:id="rId14"/>
    <p:sldId id="292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ntu" initials="s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42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D5F747-CBD4-481C-9122-2B2864730950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Presented by Santhosh Parsi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8F7321-1565-411B-A4AA-8B1E9A8062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611167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00FF7B-209F-45C5-B72F-CCFE0E145990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Presented by Santhosh Parsi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680A37-438E-4024-AA4D-C37C88ABBE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422539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680A37-438E-4024-AA4D-C37C88ABBE58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Santhosh Parsi</a:t>
            </a:r>
          </a:p>
        </p:txBody>
      </p:sp>
    </p:spTree>
    <p:extLst>
      <p:ext uri="{BB962C8B-B14F-4D97-AF65-F5344CB8AC3E}">
        <p14:creationId xmlns:p14="http://schemas.microsoft.com/office/powerpoint/2010/main" val="37339122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57D06-EF6F-676C-6ADC-93859E1AC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0CFEC7-DC44-0E17-DF78-FD29083116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A2F3D5-D7B2-89C7-91EC-EDCC62FAFD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C50779-3C5C-F1FC-D673-6B7293E0CF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680A37-438E-4024-AA4D-C37C88ABBE58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1374D-0EB2-D981-19FD-9C6028B0B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Santhosh Parsi</a:t>
            </a:r>
          </a:p>
        </p:txBody>
      </p:sp>
    </p:spTree>
    <p:extLst>
      <p:ext uri="{BB962C8B-B14F-4D97-AF65-F5344CB8AC3E}">
        <p14:creationId xmlns:p14="http://schemas.microsoft.com/office/powerpoint/2010/main" val="23615218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35944-FE03-D2C7-27EB-8C83745C2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EA58EB-6F9D-4E35-DB14-1C1CB8263C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9A9A44-3E93-4719-86FC-DF2BBE7E34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2DD1E8-F9A7-5149-5959-F7636F558F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680A37-438E-4024-AA4D-C37C88ABBE58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61CD0C-7A1B-B7E0-1C19-19E226D0B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Santhosh Parsi</a:t>
            </a:r>
          </a:p>
        </p:txBody>
      </p:sp>
    </p:spTree>
    <p:extLst>
      <p:ext uri="{BB962C8B-B14F-4D97-AF65-F5344CB8AC3E}">
        <p14:creationId xmlns:p14="http://schemas.microsoft.com/office/powerpoint/2010/main" val="6154836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F6C9F-F483-6910-4B16-8283C9C97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28FAC9-F60B-9C76-B1C0-661D4B824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F401B3-A4BE-8AF3-7D94-5682F64B7E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03B449-4971-DAAD-6F5E-9799E604DA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680A37-438E-4024-AA4D-C37C88ABBE58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10FF0-DB8C-183C-D5A9-F6193055F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Santhosh Parsi</a:t>
            </a:r>
          </a:p>
        </p:txBody>
      </p:sp>
    </p:spTree>
    <p:extLst>
      <p:ext uri="{BB962C8B-B14F-4D97-AF65-F5344CB8AC3E}">
        <p14:creationId xmlns:p14="http://schemas.microsoft.com/office/powerpoint/2010/main" val="3340579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8B6F7-A28A-D8BF-1544-6ACE7545C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268CE3-4EC1-E66E-0B98-48CD241EFE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F672FE-4AB6-DA0E-6F7D-75778D4C9A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87E094-4E6A-B29C-8D08-B89E3AED55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680A37-438E-4024-AA4D-C37C88ABBE5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69399-7ED8-9304-340F-A48D83D8C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Santhosh Parsi</a:t>
            </a:r>
          </a:p>
        </p:txBody>
      </p:sp>
    </p:spTree>
    <p:extLst>
      <p:ext uri="{BB962C8B-B14F-4D97-AF65-F5344CB8AC3E}">
        <p14:creationId xmlns:p14="http://schemas.microsoft.com/office/powerpoint/2010/main" val="11384123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72A4A-548C-C1B4-96AF-70F80A73C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0D1CFB-A924-332D-30D7-51C75E145D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B57921-68CE-9EB8-A97F-4CD7060139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C79B87-2181-BCFC-8BAC-9A7AB33B2F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680A37-438E-4024-AA4D-C37C88ABBE5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908F9-59FC-C1C0-C566-51E10B2C4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Santhosh Parsi</a:t>
            </a:r>
          </a:p>
        </p:txBody>
      </p:sp>
    </p:spTree>
    <p:extLst>
      <p:ext uri="{BB962C8B-B14F-4D97-AF65-F5344CB8AC3E}">
        <p14:creationId xmlns:p14="http://schemas.microsoft.com/office/powerpoint/2010/main" val="26378534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ADDFC-6F73-2FB4-3B9E-218692FA9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224AED-3F38-2C8E-59BF-E193ACAAA6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61F673-1A60-E160-AC04-2E542639EB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0F44F9-201C-FFD7-2EDE-A8DB9ED33D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680A37-438E-4024-AA4D-C37C88ABBE58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6128CC-B201-3DF7-462D-D04F8CAB1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Santhosh Parsi</a:t>
            </a:r>
          </a:p>
        </p:txBody>
      </p:sp>
    </p:spTree>
    <p:extLst>
      <p:ext uri="{BB962C8B-B14F-4D97-AF65-F5344CB8AC3E}">
        <p14:creationId xmlns:p14="http://schemas.microsoft.com/office/powerpoint/2010/main" val="7767541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81F7E-3B16-8313-0E76-852E7B4C1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49FA97-431F-59A7-9EBF-C8BCA020BD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557914-8C98-EC87-87FD-A50B61A6DD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0EDAED-A57C-B7DF-6FAA-7E02FBC87B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680A37-438E-4024-AA4D-C37C88ABBE58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9C0F9-9B7A-0506-BEB6-6823BA635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Santhosh Parsi</a:t>
            </a:r>
          </a:p>
        </p:txBody>
      </p:sp>
    </p:spTree>
    <p:extLst>
      <p:ext uri="{BB962C8B-B14F-4D97-AF65-F5344CB8AC3E}">
        <p14:creationId xmlns:p14="http://schemas.microsoft.com/office/powerpoint/2010/main" val="24175610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680A37-438E-4024-AA4D-C37C88ABBE5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Santhosh Parsi</a:t>
            </a:r>
          </a:p>
        </p:txBody>
      </p:sp>
    </p:spTree>
    <p:extLst>
      <p:ext uri="{BB962C8B-B14F-4D97-AF65-F5344CB8AC3E}">
        <p14:creationId xmlns:p14="http://schemas.microsoft.com/office/powerpoint/2010/main" val="37339122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2B0EE-F78E-3B05-0784-B1E11AD18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50B5A6-A26F-C0B8-85E2-AE7805784D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1F3044-4904-A44D-6348-83EF0A43D7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4ED7B1-D799-D9B6-2C2E-1BD52E64F3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680A37-438E-4024-AA4D-C37C88ABBE58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BCA5EF-294A-B090-09A2-F43B2A734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Santhosh Parsi</a:t>
            </a:r>
          </a:p>
        </p:txBody>
      </p:sp>
    </p:spTree>
    <p:extLst>
      <p:ext uri="{BB962C8B-B14F-4D97-AF65-F5344CB8AC3E}">
        <p14:creationId xmlns:p14="http://schemas.microsoft.com/office/powerpoint/2010/main" val="18829360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E9135-4A71-DED7-E82E-1C98DAC1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ADFCE4-6A4A-2806-D472-F2F2134EAC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972D02-08F1-766A-6910-3EDECAD4DE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115F2B-35E6-454D-9BBB-6C5745E9FE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680A37-438E-4024-AA4D-C37C88ABBE58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B297E-B145-999D-6F90-EA34B708D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Santhosh Parsi</a:t>
            </a:r>
          </a:p>
        </p:txBody>
      </p:sp>
    </p:spTree>
    <p:extLst>
      <p:ext uri="{BB962C8B-B14F-4D97-AF65-F5344CB8AC3E}">
        <p14:creationId xmlns:p14="http://schemas.microsoft.com/office/powerpoint/2010/main" val="12875052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8BDB2-52A7-6BEE-9F5A-EB8FFFEF5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0C209D-5C61-B1D5-640A-0FB89A5975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9B29E1-C877-F11C-E4B1-B1E296E59F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C4E8AF-C0D2-1067-95EB-E5EE68DDFA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680A37-438E-4024-AA4D-C37C88ABBE58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539BE-9F48-3E3F-7F20-BD6EE5B7C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Santhosh Parsi</a:t>
            </a:r>
          </a:p>
        </p:txBody>
      </p:sp>
    </p:spTree>
    <p:extLst>
      <p:ext uri="{BB962C8B-B14F-4D97-AF65-F5344CB8AC3E}">
        <p14:creationId xmlns:p14="http://schemas.microsoft.com/office/powerpoint/2010/main" val="7487687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680A37-438E-4024-AA4D-C37C88ABBE58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Santhosh Parsi</a:t>
            </a:r>
          </a:p>
        </p:txBody>
      </p:sp>
    </p:spTree>
    <p:extLst>
      <p:ext uri="{BB962C8B-B14F-4D97-AF65-F5344CB8AC3E}">
        <p14:creationId xmlns:p14="http://schemas.microsoft.com/office/powerpoint/2010/main" val="37339122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5407C-7203-2B00-BB18-A0210203F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E78329-1588-F46A-4208-37B6D24E34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20F40F-9B0C-E5F1-7F01-8393AD0BC2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95C52F-4A7B-D6DA-4999-EE798D836E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680A37-438E-4024-AA4D-C37C88ABBE58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2C10B-2604-EC06-50C2-FBB91ED85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Santhosh Parsi</a:t>
            </a:r>
          </a:p>
        </p:txBody>
      </p:sp>
    </p:spTree>
    <p:extLst>
      <p:ext uri="{BB962C8B-B14F-4D97-AF65-F5344CB8AC3E}">
        <p14:creationId xmlns:p14="http://schemas.microsoft.com/office/powerpoint/2010/main" val="3007728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.NET Core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.NET Core is a new version of .NET Framework.</a:t>
            </a:r>
          </a:p>
          <a:p>
            <a:r>
              <a:rPr lang="en-US" sz="2000" dirty="0"/>
              <a:t>.NET Core  is a cross-platform, open-source framework developed by Microsoft for building modern, high-performance applications.</a:t>
            </a:r>
          </a:p>
          <a:p>
            <a:r>
              <a:rPr lang="en-US" sz="2000" dirty="0"/>
              <a:t>It’s the </a:t>
            </a:r>
            <a:r>
              <a:rPr lang="en-US" sz="2000" b="1" dirty="0"/>
              <a:t>next generation</a:t>
            </a:r>
            <a:r>
              <a:rPr lang="en-US" sz="2000" dirty="0"/>
              <a:t> of the traditional </a:t>
            </a:r>
            <a:r>
              <a:rPr lang="en-US" sz="2000" b="1" dirty="0"/>
              <a:t>.NET Framework</a:t>
            </a:r>
            <a:r>
              <a:rPr lang="en-US" sz="2000" dirty="0"/>
              <a:t>, designed to work on:</a:t>
            </a:r>
          </a:p>
          <a:p>
            <a:r>
              <a:rPr lang="en-US" sz="2000" dirty="0"/>
              <a:t>✅ </a:t>
            </a:r>
            <a:r>
              <a:rPr lang="en-US" sz="2000" b="1" dirty="0"/>
              <a:t>Windows</a:t>
            </a:r>
            <a:br>
              <a:rPr lang="en-US" sz="2000" dirty="0"/>
            </a:br>
            <a:r>
              <a:rPr lang="en-US" sz="2000" dirty="0"/>
              <a:t>✅ </a:t>
            </a:r>
            <a:r>
              <a:rPr lang="en-US" sz="2000" b="1" dirty="0"/>
              <a:t>macOS</a:t>
            </a:r>
            <a:br>
              <a:rPr lang="en-US" sz="2000" dirty="0"/>
            </a:br>
            <a:r>
              <a:rPr lang="en-US" sz="2000" dirty="0"/>
              <a:t>✅ </a:t>
            </a:r>
            <a:r>
              <a:rPr lang="en-US" sz="2000" b="1" dirty="0"/>
              <a:t>Linux</a:t>
            </a:r>
            <a:endParaRPr lang="en-US" sz="2000" dirty="0"/>
          </a:p>
          <a:p>
            <a:r>
              <a:rPr lang="en-US" sz="2000" dirty="0"/>
              <a:t>.NET Core Framework can be used to build different types of applications such as mobile, desktop, web, cloud, IoT, machine learning, microservices, game, etc.</a:t>
            </a:r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50889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71B87-3F80-B071-993C-D90861CE0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C22025-A273-6F32-351B-E930FFC3D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.NET Core?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BA0400E-26DE-832C-AD59-E218DC9C792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US" sz="20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CA7A718-C68F-8386-40A4-3FDBDF4CEA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9194235"/>
              </p:ext>
            </p:extLst>
          </p:nvPr>
        </p:nvGraphicFramePr>
        <p:xfrm>
          <a:off x="377952" y="1877060"/>
          <a:ext cx="8232648" cy="3134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5848">
                  <a:extLst>
                    <a:ext uri="{9D8B030D-6E8A-4147-A177-3AD203B41FA5}">
                      <a16:colId xmlns:a16="http://schemas.microsoft.com/office/drawing/2014/main" val="1444046084"/>
                    </a:ext>
                  </a:extLst>
                </a:gridCol>
                <a:gridCol w="4876800">
                  <a:extLst>
                    <a:ext uri="{9D8B030D-6E8A-4147-A177-3AD203B41FA5}">
                      <a16:colId xmlns:a16="http://schemas.microsoft.com/office/drawing/2014/main" val="23363643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4329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Cross-Platform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Runs on Windows, Linux, and macOS.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9609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High Performance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Optimized runtime for fast execution and scalable apps.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3881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Modular &amp; Lightweight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You install only the required packages via </a:t>
                      </a:r>
                      <a:r>
                        <a:rPr lang="en-US" b="1"/>
                        <a:t>NuGet</a:t>
                      </a:r>
                      <a:r>
                        <a:rPr lang="en-US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96460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Open Source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Managed by Microsoft &amp; the community on GitHub.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0399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Unified Platform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Supports Web, Desktop, Cloud, Mobile, Microservices, IoT, and more.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2253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Side-by-Side Versioning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Multiple .NET versions can run on the same system.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41862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2813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2722A-DAC7-87D4-ECE4-7A79EB499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8E8B264-8CD0-666B-554B-75CC006EA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Main Features / Characteristics of .NET Core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3150B0-0F3D-AC87-AC5E-019D5641816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US" sz="20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D65C426-66B9-6F02-E531-344DA859EE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1860273"/>
              </p:ext>
            </p:extLst>
          </p:nvPr>
        </p:nvGraphicFramePr>
        <p:xfrm>
          <a:off x="228600" y="1752600"/>
          <a:ext cx="8537449" cy="4668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3745">
                  <a:extLst>
                    <a:ext uri="{9D8B030D-6E8A-4147-A177-3AD203B41FA5}">
                      <a16:colId xmlns:a16="http://schemas.microsoft.com/office/drawing/2014/main" val="1416967257"/>
                    </a:ext>
                  </a:extLst>
                </a:gridCol>
                <a:gridCol w="2422855">
                  <a:extLst>
                    <a:ext uri="{9D8B030D-6E8A-4147-A177-3AD203B41FA5}">
                      <a16:colId xmlns:a16="http://schemas.microsoft.com/office/drawing/2014/main" val="1301082932"/>
                    </a:ext>
                  </a:extLst>
                </a:gridCol>
                <a:gridCol w="5260849">
                  <a:extLst>
                    <a:ext uri="{9D8B030D-6E8A-4147-A177-3AD203B41FA5}">
                      <a16:colId xmlns:a16="http://schemas.microsoft.com/office/drawing/2014/main" val="1966415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Explanation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2486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Cross-Platform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.NET Core runs on </a:t>
                      </a:r>
                      <a:r>
                        <a:rPr lang="en-US" b="1" dirty="0"/>
                        <a:t>Windows</a:t>
                      </a:r>
                      <a:r>
                        <a:rPr lang="en-US" dirty="0"/>
                        <a:t>, </a:t>
                      </a:r>
                      <a:r>
                        <a:rPr lang="en-US" b="1" dirty="0"/>
                        <a:t>Linux</a:t>
                      </a:r>
                      <a:r>
                        <a:rPr lang="en-US" dirty="0"/>
                        <a:t>, and </a:t>
                      </a:r>
                      <a:r>
                        <a:rPr lang="en-US" b="1" dirty="0"/>
                        <a:t>macOS</a:t>
                      </a:r>
                      <a:r>
                        <a:rPr lang="en-US" dirty="0"/>
                        <a:t> — meaning you can develop and host your applications on any OS.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7870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2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Open Source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.NET Core is </a:t>
                      </a:r>
                      <a:r>
                        <a:rPr lang="en-US" b="1" dirty="0"/>
                        <a:t>open-sourced</a:t>
                      </a:r>
                      <a:r>
                        <a:rPr lang="en-US" dirty="0"/>
                        <a:t> under the </a:t>
                      </a:r>
                      <a:r>
                        <a:rPr lang="en-US" b="1" dirty="0"/>
                        <a:t>MIT license</a:t>
                      </a:r>
                      <a:r>
                        <a:rPr lang="en-US" dirty="0"/>
                        <a:t> and maintained by </a:t>
                      </a:r>
                      <a:r>
                        <a:rPr lang="en-US" b="1" dirty="0"/>
                        <a:t>Microsoft</a:t>
                      </a:r>
                      <a:r>
                        <a:rPr lang="en-US" dirty="0"/>
                        <a:t> and the </a:t>
                      </a:r>
                      <a:r>
                        <a:rPr lang="en-US" b="1" dirty="0"/>
                        <a:t>developer community</a:t>
                      </a:r>
                      <a:r>
                        <a:rPr lang="en-US" dirty="0"/>
                        <a:t> on GitHub.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6312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3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High Performance &amp; Scalability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It’s optimized for performance — ASP.NET Core apps are among the </a:t>
                      </a:r>
                      <a:r>
                        <a:rPr lang="en-US" b="1"/>
                        <a:t>fastest web frameworks</a:t>
                      </a:r>
                      <a:r>
                        <a:rPr lang="en-US"/>
                        <a:t> today. Ideal for high-traffic or enterprise systems.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7554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4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Modular &amp; Lightweight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Uses </a:t>
                      </a:r>
                      <a:r>
                        <a:rPr lang="en-US" b="1" dirty="0"/>
                        <a:t>NuGet packages</a:t>
                      </a:r>
                      <a:r>
                        <a:rPr lang="en-US" dirty="0"/>
                        <a:t>, so you include only what you need — reducing app size and improving startup time.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818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5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Unified Framework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Supports multiple types of applications: Web, Cloud, Desktop, Mobile, IoT, AI, and Microservices — all using </a:t>
                      </a:r>
                      <a:r>
                        <a:rPr lang="en-US" b="1" dirty="0"/>
                        <a:t>one platform</a:t>
                      </a:r>
                      <a:r>
                        <a:rPr lang="en-US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33659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4755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7B629-9D71-A5E3-A3E4-CF0D9082F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300BECE-717E-CE03-1DAA-35E72241F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Main Features / Characteristics of .NET Core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F95528E-2439-FC20-56ED-6A1179699BE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US" sz="20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26BE5C7-2698-286A-D7FB-AA9CDCCEA6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4704717"/>
              </p:ext>
            </p:extLst>
          </p:nvPr>
        </p:nvGraphicFramePr>
        <p:xfrm>
          <a:off x="228600" y="1752600"/>
          <a:ext cx="8537449" cy="475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3745">
                  <a:extLst>
                    <a:ext uri="{9D8B030D-6E8A-4147-A177-3AD203B41FA5}">
                      <a16:colId xmlns:a16="http://schemas.microsoft.com/office/drawing/2014/main" val="1416967257"/>
                    </a:ext>
                  </a:extLst>
                </a:gridCol>
                <a:gridCol w="2422855">
                  <a:extLst>
                    <a:ext uri="{9D8B030D-6E8A-4147-A177-3AD203B41FA5}">
                      <a16:colId xmlns:a16="http://schemas.microsoft.com/office/drawing/2014/main" val="1301082932"/>
                    </a:ext>
                  </a:extLst>
                </a:gridCol>
                <a:gridCol w="5260849">
                  <a:extLst>
                    <a:ext uri="{9D8B030D-6E8A-4147-A177-3AD203B41FA5}">
                      <a16:colId xmlns:a16="http://schemas.microsoft.com/office/drawing/2014/main" val="1966415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Explanation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2486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6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Command-Line Interface (CLI)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Provides a </a:t>
                      </a:r>
                      <a:r>
                        <a:rPr lang="en-US" b="1" dirty="0"/>
                        <a:t>powerful CLI tool</a:t>
                      </a:r>
                      <a:r>
                        <a:rPr lang="en-US" dirty="0"/>
                        <a:t> (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dotnet</a:t>
                      </a:r>
                      <a:r>
                        <a:rPr lang="en-US" dirty="0"/>
                        <a:t>) for creating, building, running, testing, and publishing projects from the terminal.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7870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7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Side-by-Side Versioning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Different .NET Core versions can run on the same machine without conflict — perfect for microservice architectures.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6312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8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Dependency Injection (Built-In)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Has </a:t>
                      </a:r>
                      <a:r>
                        <a:rPr lang="en-US" b="1" dirty="0"/>
                        <a:t>native support for Dependency Injection (DI)</a:t>
                      </a:r>
                      <a:r>
                        <a:rPr lang="en-US" dirty="0"/>
                        <a:t>, which improves code maintainability and testability.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7554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Unified Development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Same programming languages (</a:t>
                      </a:r>
                      <a:r>
                        <a:rPr lang="en-US" b="1" dirty="0"/>
                        <a:t>C#, F#, VB.NET</a:t>
                      </a:r>
                      <a:r>
                        <a:rPr lang="en-US" dirty="0"/>
                        <a:t>) and same libraries can be used across all application types.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818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Microservices Friendly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Designed to work with </a:t>
                      </a:r>
                      <a:r>
                        <a:rPr lang="en-US" b="1" dirty="0"/>
                        <a:t>Docker</a:t>
                      </a:r>
                      <a:r>
                        <a:rPr lang="en-US" dirty="0"/>
                        <a:t>, </a:t>
                      </a:r>
                      <a:r>
                        <a:rPr lang="en-US" b="1" dirty="0"/>
                        <a:t>Kubernetes</a:t>
                      </a:r>
                      <a:r>
                        <a:rPr lang="en-US" dirty="0"/>
                        <a:t>, and other cloud-native tools — great for distributed systems.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33659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Cloud 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Deep integration with </a:t>
                      </a:r>
                      <a:r>
                        <a:rPr lang="en-US" b="1" dirty="0"/>
                        <a:t>Microsoft Azure</a:t>
                      </a:r>
                      <a:r>
                        <a:rPr lang="en-US" dirty="0"/>
                        <a:t> and other cloud platforms for hosting, CI/CD, and monitoring.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77968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548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24468-395A-9DE0-B233-0C4C81C85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D05D7E5-5C2A-8178-5697-269B4255C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Main Features / Characteristics of .NET Core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D6D1C45-5753-DFD7-6954-15480FCEAA8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US" sz="20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725CA58-476A-4609-3679-D1A0F75919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1957457"/>
              </p:ext>
            </p:extLst>
          </p:nvPr>
        </p:nvGraphicFramePr>
        <p:xfrm>
          <a:off x="228600" y="1752600"/>
          <a:ext cx="8537449" cy="421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3745">
                  <a:extLst>
                    <a:ext uri="{9D8B030D-6E8A-4147-A177-3AD203B41FA5}">
                      <a16:colId xmlns:a16="http://schemas.microsoft.com/office/drawing/2014/main" val="1416967257"/>
                    </a:ext>
                  </a:extLst>
                </a:gridCol>
                <a:gridCol w="2422855">
                  <a:extLst>
                    <a:ext uri="{9D8B030D-6E8A-4147-A177-3AD203B41FA5}">
                      <a16:colId xmlns:a16="http://schemas.microsoft.com/office/drawing/2014/main" val="1301082932"/>
                    </a:ext>
                  </a:extLst>
                </a:gridCol>
                <a:gridCol w="5260849">
                  <a:extLst>
                    <a:ext uri="{9D8B030D-6E8A-4147-A177-3AD203B41FA5}">
                      <a16:colId xmlns:a16="http://schemas.microsoft.com/office/drawing/2014/main" val="1966415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Explanation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2486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12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Asynchronous Programming Support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Built-in support for </a:t>
                      </a:r>
                      <a:r>
                        <a:rPr lang="en-US" b="1" dirty="0"/>
                        <a:t>async/await</a:t>
                      </a:r>
                      <a:r>
                        <a:rPr lang="en-US" dirty="0"/>
                        <a:t>, improving scalability in I/O-bound applications like APIs.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7870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13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Improved Security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Offers features like HTTPS by default, Data Protection APIs, Authentication &amp; Authorization middleware.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6312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14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Cross-Language Interoperability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You can use </a:t>
                      </a:r>
                      <a:r>
                        <a:rPr lang="en-US" b="1" dirty="0"/>
                        <a:t>C#</a:t>
                      </a:r>
                      <a:r>
                        <a:rPr lang="en-US" dirty="0"/>
                        <a:t>, </a:t>
                      </a:r>
                      <a:r>
                        <a:rPr lang="en-US" b="1" dirty="0"/>
                        <a:t>F#</a:t>
                      </a:r>
                      <a:r>
                        <a:rPr lang="en-US" dirty="0"/>
                        <a:t>, or </a:t>
                      </a:r>
                      <a:r>
                        <a:rPr lang="en-US" b="1" dirty="0"/>
                        <a:t>VB.NET</a:t>
                      </a:r>
                      <a:r>
                        <a:rPr lang="en-US" dirty="0"/>
                        <a:t> together in the same solution if needed.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7554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Automatic Garbage Collection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Managed memory system handles cleanup automatically, improving performance and reliability.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818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Unified Runtime &amp; SDK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One SDK supports all platforms and project types — simplifying development and deployment.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33659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Entity Framework Core (EF Core)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Modern, lightweight ORM (Object Relational Mapper) for seamless database operations.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77968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3881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EB496-82F4-D54E-1074-EFA2C7F43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FC2514E-0DBC-D532-384A-493F75153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Main Features / Characteristics of .NET Core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96A7E85-D42E-4837-4E89-D9B822AD932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US" sz="20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9CCF2E2-75F3-F7BF-57B8-86714CE81F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209952"/>
              </p:ext>
            </p:extLst>
          </p:nvPr>
        </p:nvGraphicFramePr>
        <p:xfrm>
          <a:off x="228600" y="1752600"/>
          <a:ext cx="8537449" cy="283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3745">
                  <a:extLst>
                    <a:ext uri="{9D8B030D-6E8A-4147-A177-3AD203B41FA5}">
                      <a16:colId xmlns:a16="http://schemas.microsoft.com/office/drawing/2014/main" val="1416967257"/>
                    </a:ext>
                  </a:extLst>
                </a:gridCol>
                <a:gridCol w="2422855">
                  <a:extLst>
                    <a:ext uri="{9D8B030D-6E8A-4147-A177-3AD203B41FA5}">
                      <a16:colId xmlns:a16="http://schemas.microsoft.com/office/drawing/2014/main" val="1301082932"/>
                    </a:ext>
                  </a:extLst>
                </a:gridCol>
                <a:gridCol w="5260849">
                  <a:extLst>
                    <a:ext uri="{9D8B030D-6E8A-4147-A177-3AD203B41FA5}">
                      <a16:colId xmlns:a16="http://schemas.microsoft.com/office/drawing/2014/main" val="1966415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Explanation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2486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18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Hot Reload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Allows developers to make code changes and see updates instantly without restarting the app (introduced in .NET 6).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7870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19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Cross-Platform Hosting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You can host .NET Core apps on IIS, Nginx, Apache, Docker, or self-host them..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6312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20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Blazor &amp; MAUI Support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Enables web UI development with </a:t>
                      </a:r>
                      <a:r>
                        <a:rPr lang="en-US" b="1" dirty="0"/>
                        <a:t>C# instead of JavaScript</a:t>
                      </a:r>
                      <a:r>
                        <a:rPr lang="en-US" dirty="0"/>
                        <a:t> (Blazor), and cross-platform mobile apps using </a:t>
                      </a:r>
                      <a:r>
                        <a:rPr lang="en-US" b="1" dirty="0"/>
                        <a:t>.NET MAUI</a:t>
                      </a:r>
                      <a:r>
                        <a:rPr lang="en-US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75545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4893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5AD3F-D616-CE61-AC0D-4EC056540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3C21FB-38D0-19B4-A1CA-0288410BF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Overview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A0B78A3-6FC2-6B91-8776-4D80E103EFD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386611-B80C-C3C1-568B-FE69D6EC3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752600"/>
            <a:ext cx="8253517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508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D4F7C-0722-D931-FCB8-97EF161E0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ADB47DA-2069-8B8F-1C16-D99AC4A64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Types of Applications You Can Build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4747B05-5B96-3746-5D53-9C2F998A485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US" sz="20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B1132E1-9A92-E040-6BCD-8E4B38BE55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7840580"/>
              </p:ext>
            </p:extLst>
          </p:nvPr>
        </p:nvGraphicFramePr>
        <p:xfrm>
          <a:off x="377952" y="1877060"/>
          <a:ext cx="8232648" cy="394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1448">
                  <a:extLst>
                    <a:ext uri="{9D8B030D-6E8A-4147-A177-3AD203B41FA5}">
                      <a16:colId xmlns:a16="http://schemas.microsoft.com/office/drawing/2014/main" val="780678529"/>
                    </a:ext>
                  </a:extLst>
                </a:gridCol>
                <a:gridCol w="3046984">
                  <a:extLst>
                    <a:ext uri="{9D8B030D-6E8A-4147-A177-3AD203B41FA5}">
                      <a16:colId xmlns:a16="http://schemas.microsoft.com/office/drawing/2014/main" val="4078585621"/>
                    </a:ext>
                  </a:extLst>
                </a:gridCol>
                <a:gridCol w="2744216">
                  <a:extLst>
                    <a:ext uri="{9D8B030D-6E8A-4147-A177-3AD203B41FA5}">
                      <a16:colId xmlns:a16="http://schemas.microsoft.com/office/drawing/2014/main" val="36063581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Framework/Tool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1120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Web Apps &amp; APIs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ASP.NET Core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Build MVC, Razor Pages, REST APIs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88202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Desktop Apps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WPF / WinForms (.NET 6+)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Build GUI-based applications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07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Microservices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ASP.NET Core + Docker/Kubernetes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Lightweight, deployable services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4974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Cloud Apps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Azure + .NET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Deploy apps to the cloud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1230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Mobile Apps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.NET MAUI / Xamarin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Cross-platform mobile development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9252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Console Apps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.NET Core Console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Lightweight command-line tools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9152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9974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Components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CLR (Common Language Runtime)</a:t>
            </a:r>
            <a:endParaRPr lang="en-US" sz="2000" dirty="0"/>
          </a:p>
          <a:p>
            <a:r>
              <a:rPr lang="en-US" sz="2000" dirty="0"/>
              <a:t>Executes code and manages memory, threads, and exceptions.</a:t>
            </a:r>
          </a:p>
          <a:p>
            <a:r>
              <a:rPr lang="en-US" sz="2000" b="1" dirty="0"/>
              <a:t>BCL (Base Class Library)</a:t>
            </a:r>
            <a:endParaRPr lang="en-US" sz="2000" dirty="0"/>
          </a:p>
          <a:p>
            <a:r>
              <a:rPr lang="en-US" sz="2000" dirty="0"/>
              <a:t>Provides common functions (I/O, Collections, LINQ, etc.).</a:t>
            </a:r>
          </a:p>
          <a:p>
            <a:r>
              <a:rPr lang="en-US" sz="2000" b="1" dirty="0"/>
              <a:t>ASP.NET Core</a:t>
            </a:r>
            <a:endParaRPr lang="en-US" sz="2000" dirty="0"/>
          </a:p>
          <a:p>
            <a:r>
              <a:rPr lang="en-US" sz="2000" dirty="0"/>
              <a:t>Framework for building web applications and APIs.</a:t>
            </a:r>
          </a:p>
          <a:p>
            <a:r>
              <a:rPr lang="en-US" sz="2000" b="1" dirty="0"/>
              <a:t>Entity Framework Core (EF Core)</a:t>
            </a:r>
            <a:endParaRPr lang="en-US" sz="2000" dirty="0"/>
          </a:p>
          <a:p>
            <a:r>
              <a:rPr lang="en-US" sz="2000" dirty="0"/>
              <a:t>ORM (Object Relational Mapper) for database operations.</a:t>
            </a:r>
          </a:p>
          <a:p>
            <a:r>
              <a:rPr lang="en-US" sz="2000" b="1" dirty="0"/>
              <a:t>CLI (Command-Line Interface)</a:t>
            </a:r>
            <a:endParaRPr lang="en-US" sz="2000" dirty="0"/>
          </a:p>
          <a:p>
            <a:r>
              <a:rPr lang="en-US" sz="2000" dirty="0"/>
              <a:t>For creating, building, running, and publishing apps.</a:t>
            </a:r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245699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73048-732C-D893-5B3B-1F62DA7AD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52B4837-1A36-9D1C-4461-8C21764B8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CLI Commands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D05F93-AD0B-B52A-011F-B29EA87B860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US" sz="16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888843F-B520-F8AC-1737-EAD094C46B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5028108"/>
              </p:ext>
            </p:extLst>
          </p:nvPr>
        </p:nvGraphicFramePr>
        <p:xfrm>
          <a:off x="265112" y="1790700"/>
          <a:ext cx="8613776" cy="4114800"/>
        </p:xfrm>
        <a:graphic>
          <a:graphicData uri="http://schemas.openxmlformats.org/drawingml/2006/table">
            <a:tbl>
              <a:tblPr/>
              <a:tblGrid>
                <a:gridCol w="4306888">
                  <a:extLst>
                    <a:ext uri="{9D8B030D-6E8A-4147-A177-3AD203B41FA5}">
                      <a16:colId xmlns:a16="http://schemas.microsoft.com/office/drawing/2014/main" val="4137640610"/>
                    </a:ext>
                  </a:extLst>
                </a:gridCol>
                <a:gridCol w="4306888">
                  <a:extLst>
                    <a:ext uri="{9D8B030D-6E8A-4147-A177-3AD203B41FA5}">
                      <a16:colId xmlns:a16="http://schemas.microsoft.com/office/drawing/2014/main" val="438093626"/>
                    </a:ext>
                  </a:extLst>
                </a:gridCol>
              </a:tblGrid>
              <a:tr h="622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Command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4082300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dotnet new webapi -n MyApi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Create a new Web API project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685489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dotnet build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Build the project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8483923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dotnet run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Run the application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283619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ourier New" panose="02070309020205020404" pitchFamily="49" charset="0"/>
                        </a:rPr>
                        <a:t>dotnet publish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Prepare for deployment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3912853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dotnet test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Run unit tests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6410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5431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0D976-4B85-CA7A-EFEA-C835CB549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331838-D1AD-AEAA-3E43-31230F90C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.NET Versions Timeline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646BCC9-38BF-A4F7-D071-7C9A1342493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US" sz="16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67B1670-3362-52AD-4D34-CA524AE0C0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7222622"/>
              </p:ext>
            </p:extLst>
          </p:nvPr>
        </p:nvGraphicFramePr>
        <p:xfrm>
          <a:off x="914400" y="1775460"/>
          <a:ext cx="6705600" cy="4320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5200">
                  <a:extLst>
                    <a:ext uri="{9D8B030D-6E8A-4147-A177-3AD203B41FA5}">
                      <a16:colId xmlns:a16="http://schemas.microsoft.com/office/drawing/2014/main" val="1322276151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3461908329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3928393685"/>
                    </a:ext>
                  </a:extLst>
                </a:gridCol>
              </a:tblGrid>
              <a:tr h="3865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Version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9500380"/>
                  </a:ext>
                </a:extLst>
              </a:tr>
              <a:tr h="6671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.NET Core 1.0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2016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Initial cross-platform release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6839908"/>
                  </a:ext>
                </a:extLst>
              </a:tr>
              <a:tr h="3865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.NET Core 2.0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2017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Major improvements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5911083"/>
                  </a:ext>
                </a:extLst>
              </a:tr>
              <a:tr h="3865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.NET Core 3.1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2019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LTS version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8989267"/>
                  </a:ext>
                </a:extLst>
              </a:tr>
              <a:tr h="6671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.NET 5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2020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Unified all .NET platforms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826575"/>
                  </a:ext>
                </a:extLst>
              </a:tr>
              <a:tr h="3865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.NET 6 (LTS)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Long Term Support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9924885"/>
                  </a:ext>
                </a:extLst>
              </a:tr>
              <a:tr h="3865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.NET 7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Performance boost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1597352"/>
                  </a:ext>
                </a:extLst>
              </a:tr>
              <a:tr h="6671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.NET 8 (LTS)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Current stable LTS version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9172755"/>
                  </a:ext>
                </a:extLst>
              </a:tr>
              <a:tr h="3865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.NET 9 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2024–25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Next major release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54759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221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71FAC-A719-FA01-A582-256158BA2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9BEEE02-A5BE-D7BA-ECF1-B3B5FE84C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base"/>
            <a:r>
              <a:rPr lang="en-US" b="1" dirty="0"/>
              <a:t>Differences Between .NET Core and .NET Framework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2364485-A089-7661-8B61-664E5B80F7C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897CE88-D70F-2ABA-2651-278C1EB4FF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6104538"/>
              </p:ext>
            </p:extLst>
          </p:nvPr>
        </p:nvGraphicFramePr>
        <p:xfrm>
          <a:off x="228600" y="1600201"/>
          <a:ext cx="8458200" cy="4904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3795">
                  <a:extLst>
                    <a:ext uri="{9D8B030D-6E8A-4147-A177-3AD203B41FA5}">
                      <a16:colId xmlns:a16="http://schemas.microsoft.com/office/drawing/2014/main" val="1362288145"/>
                    </a:ext>
                  </a:extLst>
                </a:gridCol>
                <a:gridCol w="2717737">
                  <a:extLst>
                    <a:ext uri="{9D8B030D-6E8A-4147-A177-3AD203B41FA5}">
                      <a16:colId xmlns:a16="http://schemas.microsoft.com/office/drawing/2014/main" val="1658812008"/>
                    </a:ext>
                  </a:extLst>
                </a:gridCol>
                <a:gridCol w="3626668">
                  <a:extLst>
                    <a:ext uri="{9D8B030D-6E8A-4147-A177-3AD203B41FA5}">
                      <a16:colId xmlns:a16="http://schemas.microsoft.com/office/drawing/2014/main" val="4006894336"/>
                    </a:ext>
                  </a:extLst>
                </a:gridCol>
              </a:tblGrid>
              <a:tr h="5581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.NET Framework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b="1"/>
                        <a:t>.NET Core (now .NET 5+)</a:t>
                      </a:r>
                      <a:endParaRPr lang="nl-NL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9746125"/>
                  </a:ext>
                </a:extLst>
              </a:tr>
              <a:tr h="3384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Introduction Year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2016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7136021"/>
                  </a:ext>
                </a:extLst>
              </a:tr>
              <a:tr h="7973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Platform Support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Windows only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Cross-platform</a:t>
                      </a:r>
                      <a:r>
                        <a:rPr lang="en-US"/>
                        <a:t> (Windows, Linux, macOS)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3250911"/>
                  </a:ext>
                </a:extLst>
              </a:tr>
              <a:tr h="5581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Open Source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Partially open source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Fully open source</a:t>
                      </a:r>
                      <a:r>
                        <a:rPr lang="en-US" dirty="0"/>
                        <a:t> (on GitHub)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812714"/>
                  </a:ext>
                </a:extLst>
              </a:tr>
              <a:tr h="10331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Application Types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Web (ASP.NET), Desktop (WPF, WinForms), Console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Web, Desktop, Cloud, IoT, Mobile, Microservices, Console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3592234"/>
                  </a:ext>
                </a:extLst>
              </a:tr>
              <a:tr h="5581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Performance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Slower and heavier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Lightweight and high-performance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3941693"/>
                  </a:ext>
                </a:extLst>
              </a:tr>
              <a:tr h="10331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Deployment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Installed system-wide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Self-contained or framework-dependent</a:t>
                      </a:r>
                      <a:r>
                        <a:rPr lang="en-US" dirty="0"/>
                        <a:t> deployment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05109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12361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base"/>
            <a:r>
              <a:rPr lang="en-US" b="1" dirty="0"/>
              <a:t>Differences Between .NET Core and .NET Framework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874BBAB-A6EB-C387-08CB-62ECC4E749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4351715"/>
              </p:ext>
            </p:extLst>
          </p:nvPr>
        </p:nvGraphicFramePr>
        <p:xfrm>
          <a:off x="228600" y="1752600"/>
          <a:ext cx="8537448" cy="44560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136228814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658812008"/>
                    </a:ext>
                  </a:extLst>
                </a:gridCol>
                <a:gridCol w="3355848">
                  <a:extLst>
                    <a:ext uri="{9D8B030D-6E8A-4147-A177-3AD203B41FA5}">
                      <a16:colId xmlns:a16="http://schemas.microsoft.com/office/drawing/2014/main" val="4006894336"/>
                    </a:ext>
                  </a:extLst>
                </a:gridCol>
              </a:tblGrid>
              <a:tr h="1791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.NET Framework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b="1"/>
                        <a:t>.NET Core (now .NET 5+)</a:t>
                      </a:r>
                      <a:endParaRPr lang="nl-NL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9746125"/>
                  </a:ext>
                </a:extLst>
              </a:tr>
              <a:tr h="6914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Architecture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Monolithic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Modular and lightweight</a:t>
                      </a:r>
                      <a:r>
                        <a:rPr lang="en-US" dirty="0"/>
                        <a:t> (via NuGet packages)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5724233"/>
                  </a:ext>
                </a:extLst>
              </a:tr>
              <a:tr h="6891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CLI (Command Line Interface)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Limited (mainly Visual Studio GUI)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Rich CLI support</a:t>
                      </a:r>
                      <a:r>
                        <a:rPr lang="en-US"/>
                        <a:t> (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dotnet</a:t>
                      </a:r>
                      <a:r>
                        <a:rPr lang="en-US"/>
                        <a:t> command)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0208541"/>
                  </a:ext>
                </a:extLst>
              </a:tr>
              <a:tr h="6891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Dependency Injection (DI)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Third-party libraries needed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Built-in Dependency Injection</a:t>
                      </a:r>
                      <a:r>
                        <a:rPr lang="en-US"/>
                        <a:t> support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9447305"/>
                  </a:ext>
                </a:extLst>
              </a:tr>
              <a:tr h="6891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Versioning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One version per machine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Side-by-side versioning</a:t>
                      </a:r>
                      <a:r>
                        <a:rPr lang="en-US"/>
                        <a:t> supported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8743345"/>
                  </a:ext>
                </a:extLst>
              </a:tr>
              <a:tr h="6914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Microservices Support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Difficult to implement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Designed for microservices</a:t>
                      </a:r>
                      <a:r>
                        <a:rPr lang="en-US"/>
                        <a:t> architecture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3091858"/>
                  </a:ext>
                </a:extLst>
              </a:tr>
              <a:tr h="4854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Container Support (Docker)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Not suitable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Fully supported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40388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39557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FF803-E464-023F-1B44-D80C7B607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04320-97EB-7D31-1044-539159EE9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base"/>
            <a:r>
              <a:rPr lang="en-US" b="1" dirty="0"/>
              <a:t>Differences Between .NET Core and .NET Framework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5E3C83-E5F0-1BD0-97A0-ACCC184EB9D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B71A16E-D6A6-A739-E5A9-3EA14959C4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4166389"/>
              </p:ext>
            </p:extLst>
          </p:nvPr>
        </p:nvGraphicFramePr>
        <p:xfrm>
          <a:off x="228600" y="1752600"/>
          <a:ext cx="8537448" cy="46944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136228814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658812008"/>
                    </a:ext>
                  </a:extLst>
                </a:gridCol>
                <a:gridCol w="3355848">
                  <a:extLst>
                    <a:ext uri="{9D8B030D-6E8A-4147-A177-3AD203B41FA5}">
                      <a16:colId xmlns:a16="http://schemas.microsoft.com/office/drawing/2014/main" val="4006894336"/>
                    </a:ext>
                  </a:extLst>
                </a:gridCol>
              </a:tblGrid>
              <a:tr h="5986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.NET Framework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b="1"/>
                        <a:t>.NET Core (now .NET 5+)</a:t>
                      </a:r>
                      <a:endParaRPr lang="nl-NL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9746125"/>
                  </a:ext>
                </a:extLst>
              </a:tr>
              <a:tr h="8551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Hosting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IIS only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Can run on Kestrel, IIS, Nginx, Apache, Docker, etc.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6122218"/>
                  </a:ext>
                </a:extLst>
              </a:tr>
              <a:tr h="11080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Development IDEs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Mainly Visual Studio (Windows)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Visual Studio, </a:t>
                      </a:r>
                      <a:r>
                        <a:rPr lang="en-US" b="1" dirty="0"/>
                        <a:t>VS Code</a:t>
                      </a:r>
                      <a:r>
                        <a:rPr lang="en-US" dirty="0"/>
                        <a:t>, JetBrains Rider (cross-platform)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9448300"/>
                  </a:ext>
                </a:extLst>
              </a:tr>
              <a:tr h="6004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Cross-Language Support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C#, VB.NET, F#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C#, VB.NET, F#, more unified SDK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0514888"/>
                  </a:ext>
                </a:extLst>
              </a:tr>
              <a:tr h="852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Mobile Development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Not supported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Supported through </a:t>
                      </a:r>
                      <a:r>
                        <a:rPr lang="en-US" b="1" dirty="0"/>
                        <a:t>.NET MAUI / Xamarin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0711487"/>
                  </a:ext>
                </a:extLst>
              </a:tr>
              <a:tr h="6004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Updates &amp; Future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No longer evolving</a:t>
                      </a:r>
                      <a:r>
                        <a:rPr lang="en-US"/>
                        <a:t> (maintenance only)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Actively developed</a:t>
                      </a:r>
                      <a:r>
                        <a:rPr lang="en-US" dirty="0"/>
                        <a:t> (.NET 8 is current LTS)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05076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04925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8617</TotalTime>
  <Words>1330</Words>
  <Application>Microsoft Office PowerPoint</Application>
  <PresentationFormat>On-screen Show (4:3)</PresentationFormat>
  <Paragraphs>324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Courier New</vt:lpstr>
      <vt:lpstr>Tw Cen MT</vt:lpstr>
      <vt:lpstr>Wingdings</vt:lpstr>
      <vt:lpstr>Wingdings 2</vt:lpstr>
      <vt:lpstr>Median</vt:lpstr>
      <vt:lpstr>.NET Core</vt:lpstr>
      <vt:lpstr>Why .NET Core?</vt:lpstr>
      <vt:lpstr>Main Features / Characteristics of .NET Core</vt:lpstr>
      <vt:lpstr>Main Features / Characteristics of .NET Core</vt:lpstr>
      <vt:lpstr>Main Features / Characteristics of .NET Core</vt:lpstr>
      <vt:lpstr>Main Features / Characteristics of .NET Core</vt:lpstr>
      <vt:lpstr>Architecture Overview</vt:lpstr>
      <vt:lpstr>Types of Applications You Can Build</vt:lpstr>
      <vt:lpstr>Key Components</vt:lpstr>
      <vt:lpstr>Common CLI Commands</vt:lpstr>
      <vt:lpstr>.NET Versions Timeline</vt:lpstr>
      <vt:lpstr>Differences Between .NET Core and .NET Framework</vt:lpstr>
      <vt:lpstr>Differences Between .NET Core and .NET Framework</vt:lpstr>
      <vt:lpstr>Differences Between .NET Core and .NET Framework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Ado.net Entity Framework</dc:title>
  <dc:creator>santuparsi</dc:creator>
  <cp:lastModifiedBy>Santhosh Kumar</cp:lastModifiedBy>
  <cp:revision>101</cp:revision>
  <dcterms:created xsi:type="dcterms:W3CDTF">2006-08-16T00:00:00Z</dcterms:created>
  <dcterms:modified xsi:type="dcterms:W3CDTF">2025-10-06T14:31:22Z</dcterms:modified>
</cp:coreProperties>
</file>