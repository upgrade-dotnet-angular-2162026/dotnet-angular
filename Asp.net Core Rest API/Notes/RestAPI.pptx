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326" r:id="rId3"/>
    <p:sldId id="327" r:id="rId4"/>
    <p:sldId id="328" r:id="rId5"/>
    <p:sldId id="329" r:id="rId6"/>
    <p:sldId id="330" r:id="rId7"/>
    <p:sldId id="331" r:id="rId8"/>
    <p:sldId id="332" r:id="rId9"/>
    <p:sldId id="333" r:id="rId10"/>
    <p:sldId id="334" r:id="rId11"/>
    <p:sldId id="335" r:id="rId12"/>
    <p:sldId id="297" r:id="rId13"/>
    <p:sldId id="317" r:id="rId14"/>
    <p:sldId id="261" r:id="rId15"/>
    <p:sldId id="318" r:id="rId16"/>
    <p:sldId id="336" r:id="rId17"/>
    <p:sldId id="337" r:id="rId18"/>
    <p:sldId id="295" r:id="rId19"/>
    <p:sldId id="307" r:id="rId20"/>
    <p:sldId id="339" r:id="rId21"/>
    <p:sldId id="338" r:id="rId22"/>
    <p:sldId id="314" r:id="rId23"/>
    <p:sldId id="308" r:id="rId24"/>
    <p:sldId id="309" r:id="rId25"/>
    <p:sldId id="310" r:id="rId26"/>
    <p:sldId id="311" r:id="rId27"/>
    <p:sldId id="313"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3741" autoAdjust="0"/>
  </p:normalViewPr>
  <p:slideViewPr>
    <p:cSldViewPr>
      <p:cViewPr varScale="1">
        <p:scale>
          <a:sx n="63" d="100"/>
          <a:sy n="63" d="100"/>
        </p:scale>
        <p:origin x="1308"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5168A0F-649F-4C97-B40A-0C44105BD79B}" type="datetimeFigureOut">
              <a:rPr lang="en-US" smtClean="0"/>
              <a:pPr/>
              <a:t>10/8/2025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D9E14CC-2DBD-46FF-A4A3-27C8D547286A}" type="slidenum">
              <a:rPr lang="en-US" smtClean="0"/>
              <a:pPr/>
              <a:t>‹#›</a:t>
            </a:fld>
            <a:endParaRPr lang="en-US"/>
          </a:p>
        </p:txBody>
      </p:sp>
    </p:spTree>
    <p:extLst>
      <p:ext uri="{BB962C8B-B14F-4D97-AF65-F5344CB8AC3E}">
        <p14:creationId xmlns:p14="http://schemas.microsoft.com/office/powerpoint/2010/main" val="1705282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D9E14CC-2DBD-46FF-A4A3-27C8D547286A}"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B0442-20FD-543B-520C-FCD37A1C3E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4BB9E2-C9CF-329C-B25E-A68527AC0A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F3FA3-A4A4-6CC8-36BC-FF093DAC3FB4}"/>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CCF05C6E-6517-4602-CE3F-AD41DC5BEDBE}"/>
              </a:ext>
            </a:extLst>
          </p:cNvPr>
          <p:cNvSpPr>
            <a:spLocks noGrp="1"/>
          </p:cNvSpPr>
          <p:nvPr>
            <p:ph type="sldNum" sz="quarter" idx="10"/>
          </p:nvPr>
        </p:nvSpPr>
        <p:spPr/>
        <p:txBody>
          <a:bodyPr/>
          <a:lstStyle/>
          <a:p>
            <a:fld id="{2D9E14CC-2DBD-46FF-A4A3-27C8D547286A}" type="slidenum">
              <a:rPr lang="en-US" smtClean="0"/>
              <a:pPr/>
              <a:t>2</a:t>
            </a:fld>
            <a:endParaRPr lang="en-US"/>
          </a:p>
        </p:txBody>
      </p:sp>
    </p:spTree>
    <p:extLst>
      <p:ext uri="{BB962C8B-B14F-4D97-AF65-F5344CB8AC3E}">
        <p14:creationId xmlns:p14="http://schemas.microsoft.com/office/powerpoint/2010/main" val="27939114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044D4-6467-73F6-6646-827502D272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4DE4C7-1CE8-AAD5-F661-7F8E1A8C28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02319E-D8D5-ED5A-6819-191A64F1A54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144213AA-87B6-7AF1-4D14-8EB78F9BEC53}"/>
              </a:ext>
            </a:extLst>
          </p:cNvPr>
          <p:cNvSpPr>
            <a:spLocks noGrp="1"/>
          </p:cNvSpPr>
          <p:nvPr>
            <p:ph type="sldNum" sz="quarter" idx="10"/>
          </p:nvPr>
        </p:nvSpPr>
        <p:spPr/>
        <p:txBody>
          <a:bodyPr/>
          <a:lstStyle/>
          <a:p>
            <a:fld id="{2D9E14CC-2DBD-46FF-A4A3-27C8D547286A}" type="slidenum">
              <a:rPr lang="en-US" smtClean="0"/>
              <a:pPr/>
              <a:t>3</a:t>
            </a:fld>
            <a:endParaRPr lang="en-US"/>
          </a:p>
        </p:txBody>
      </p:sp>
    </p:spTree>
    <p:extLst>
      <p:ext uri="{BB962C8B-B14F-4D97-AF65-F5344CB8AC3E}">
        <p14:creationId xmlns:p14="http://schemas.microsoft.com/office/powerpoint/2010/main" val="29851174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271BB-BA5F-E8DD-68A8-79D9BBF734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62F79-2D16-7F60-1068-C299B380ED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4CC1F5-C63E-4AED-D145-2EE5769BF9B9}"/>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96325D87-1AA9-0A6E-ADCE-76DDB5582FC9}"/>
              </a:ext>
            </a:extLst>
          </p:cNvPr>
          <p:cNvSpPr>
            <a:spLocks noGrp="1"/>
          </p:cNvSpPr>
          <p:nvPr>
            <p:ph type="sldNum" sz="quarter" idx="10"/>
          </p:nvPr>
        </p:nvSpPr>
        <p:spPr/>
        <p:txBody>
          <a:bodyPr/>
          <a:lstStyle/>
          <a:p>
            <a:fld id="{2D9E14CC-2DBD-46FF-A4A3-27C8D547286A}" type="slidenum">
              <a:rPr lang="en-US" smtClean="0"/>
              <a:pPr/>
              <a:t>4</a:t>
            </a:fld>
            <a:endParaRPr lang="en-US"/>
          </a:p>
        </p:txBody>
      </p:sp>
    </p:spTree>
    <p:extLst>
      <p:ext uri="{BB962C8B-B14F-4D97-AF65-F5344CB8AC3E}">
        <p14:creationId xmlns:p14="http://schemas.microsoft.com/office/powerpoint/2010/main" val="6706797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2D658-0F9C-BF2D-65D9-175FD04973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41682A-9495-09E7-8DFF-CC1DDB3E31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A0811F-54A5-6586-551B-FAB3BFC47937}"/>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015F796C-40F5-28CE-B417-77AD88EAEDEC}"/>
              </a:ext>
            </a:extLst>
          </p:cNvPr>
          <p:cNvSpPr>
            <a:spLocks noGrp="1"/>
          </p:cNvSpPr>
          <p:nvPr>
            <p:ph type="sldNum" sz="quarter" idx="10"/>
          </p:nvPr>
        </p:nvSpPr>
        <p:spPr/>
        <p:txBody>
          <a:bodyPr/>
          <a:lstStyle/>
          <a:p>
            <a:fld id="{2D9E14CC-2DBD-46FF-A4A3-27C8D547286A}" type="slidenum">
              <a:rPr lang="en-US" smtClean="0"/>
              <a:pPr/>
              <a:t>5</a:t>
            </a:fld>
            <a:endParaRPr lang="en-US"/>
          </a:p>
        </p:txBody>
      </p:sp>
    </p:spTree>
    <p:extLst>
      <p:ext uri="{BB962C8B-B14F-4D97-AF65-F5344CB8AC3E}">
        <p14:creationId xmlns:p14="http://schemas.microsoft.com/office/powerpoint/2010/main" val="9484243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DF9F0-CD46-157C-41FC-80FFB9DB1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F01177-651D-7DA8-BFBD-F74BBB3D25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ABC2CD-CD04-11D2-5C25-A53814C0062D}"/>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39528669-6AC4-9113-743D-5BFDFD6BAEB4}"/>
              </a:ext>
            </a:extLst>
          </p:cNvPr>
          <p:cNvSpPr>
            <a:spLocks noGrp="1"/>
          </p:cNvSpPr>
          <p:nvPr>
            <p:ph type="sldNum" sz="quarter" idx="10"/>
          </p:nvPr>
        </p:nvSpPr>
        <p:spPr/>
        <p:txBody>
          <a:bodyPr/>
          <a:lstStyle/>
          <a:p>
            <a:fld id="{2D9E14CC-2DBD-46FF-A4A3-27C8D547286A}" type="slidenum">
              <a:rPr lang="en-US" smtClean="0"/>
              <a:pPr/>
              <a:t>6</a:t>
            </a:fld>
            <a:endParaRPr lang="en-US"/>
          </a:p>
        </p:txBody>
      </p:sp>
    </p:spTree>
    <p:extLst>
      <p:ext uri="{BB962C8B-B14F-4D97-AF65-F5344CB8AC3E}">
        <p14:creationId xmlns:p14="http://schemas.microsoft.com/office/powerpoint/2010/main" val="3711568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0D21A-959E-26C3-3A83-4991EEA02C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B2C82E-61BC-2845-9CCA-5499BA3CC9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180FBF-8F81-D194-A3E4-5E228BFE6BA5}"/>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A6382D83-0426-F85A-4FDA-8BB6C1271C45}"/>
              </a:ext>
            </a:extLst>
          </p:cNvPr>
          <p:cNvSpPr>
            <a:spLocks noGrp="1"/>
          </p:cNvSpPr>
          <p:nvPr>
            <p:ph type="sldNum" sz="quarter" idx="10"/>
          </p:nvPr>
        </p:nvSpPr>
        <p:spPr/>
        <p:txBody>
          <a:bodyPr/>
          <a:lstStyle/>
          <a:p>
            <a:fld id="{2D9E14CC-2DBD-46FF-A4A3-27C8D547286A}" type="slidenum">
              <a:rPr lang="en-US" smtClean="0"/>
              <a:pPr/>
              <a:t>7</a:t>
            </a:fld>
            <a:endParaRPr lang="en-US"/>
          </a:p>
        </p:txBody>
      </p:sp>
    </p:spTree>
    <p:extLst>
      <p:ext uri="{BB962C8B-B14F-4D97-AF65-F5344CB8AC3E}">
        <p14:creationId xmlns:p14="http://schemas.microsoft.com/office/powerpoint/2010/main" val="12096818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6BB02-029B-E2C8-D46F-E7AB100CC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F85605-376F-78FC-D44C-DE32A0483D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22FD69-7C0D-B354-507B-276B2FFCDE42}"/>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9FBD2169-36FA-954B-DA31-9B06D019D8F9}"/>
              </a:ext>
            </a:extLst>
          </p:cNvPr>
          <p:cNvSpPr>
            <a:spLocks noGrp="1"/>
          </p:cNvSpPr>
          <p:nvPr>
            <p:ph type="sldNum" sz="quarter" idx="10"/>
          </p:nvPr>
        </p:nvSpPr>
        <p:spPr/>
        <p:txBody>
          <a:bodyPr/>
          <a:lstStyle/>
          <a:p>
            <a:fld id="{2D9E14CC-2DBD-46FF-A4A3-27C8D547286A}" type="slidenum">
              <a:rPr lang="en-US" smtClean="0"/>
              <a:pPr/>
              <a:t>8</a:t>
            </a:fld>
            <a:endParaRPr lang="en-US"/>
          </a:p>
        </p:txBody>
      </p:sp>
    </p:spTree>
    <p:extLst>
      <p:ext uri="{BB962C8B-B14F-4D97-AF65-F5344CB8AC3E}">
        <p14:creationId xmlns:p14="http://schemas.microsoft.com/office/powerpoint/2010/main" val="1004469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527BA-DF51-975F-DB0A-898419C002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3C99C1-E9DF-369F-9307-03F1842265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AE426D-01BC-F668-87A2-D6F76C77F67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10966F5A-BBBC-A018-E35A-E55AF584F2FA}"/>
              </a:ext>
            </a:extLst>
          </p:cNvPr>
          <p:cNvSpPr>
            <a:spLocks noGrp="1"/>
          </p:cNvSpPr>
          <p:nvPr>
            <p:ph type="sldNum" sz="quarter" idx="10"/>
          </p:nvPr>
        </p:nvSpPr>
        <p:spPr/>
        <p:txBody>
          <a:bodyPr/>
          <a:lstStyle/>
          <a:p>
            <a:fld id="{2D9E14CC-2DBD-46FF-A4A3-27C8D547286A}" type="slidenum">
              <a:rPr lang="en-US" smtClean="0"/>
              <a:pPr/>
              <a:t>9</a:t>
            </a:fld>
            <a:endParaRPr lang="en-US"/>
          </a:p>
        </p:txBody>
      </p:sp>
    </p:spTree>
    <p:extLst>
      <p:ext uri="{BB962C8B-B14F-4D97-AF65-F5344CB8AC3E}">
        <p14:creationId xmlns:p14="http://schemas.microsoft.com/office/powerpoint/2010/main" val="15848993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26B7E-C1EA-AB60-4C4E-3A26E34B13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675F21-60AD-759C-9C13-75B5C99922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BD72CB-AB61-523F-317D-5210D66B4226}"/>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06E4707D-23D3-6961-CE87-E3095D7BF14C}"/>
              </a:ext>
            </a:extLst>
          </p:cNvPr>
          <p:cNvSpPr>
            <a:spLocks noGrp="1"/>
          </p:cNvSpPr>
          <p:nvPr>
            <p:ph type="sldNum" sz="quarter" idx="10"/>
          </p:nvPr>
        </p:nvSpPr>
        <p:spPr/>
        <p:txBody>
          <a:bodyPr/>
          <a:lstStyle/>
          <a:p>
            <a:fld id="{2D9E14CC-2DBD-46FF-A4A3-27C8D547286A}" type="slidenum">
              <a:rPr lang="en-US" smtClean="0"/>
              <a:pPr/>
              <a:t>10</a:t>
            </a:fld>
            <a:endParaRPr lang="en-US"/>
          </a:p>
        </p:txBody>
      </p:sp>
    </p:spTree>
    <p:extLst>
      <p:ext uri="{BB962C8B-B14F-4D97-AF65-F5344CB8AC3E}">
        <p14:creationId xmlns:p14="http://schemas.microsoft.com/office/powerpoint/2010/main" val="121026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7BFF0-B0D5-9A24-12B8-3F141E33B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E9CE06-F46A-91BF-DBDB-A2FE83ED52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1F5B8C-CD46-C746-21D8-265F2FC41392}"/>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215D5AEE-053F-2A80-A29C-8A9C696BE373}"/>
              </a:ext>
            </a:extLst>
          </p:cNvPr>
          <p:cNvSpPr>
            <a:spLocks noGrp="1"/>
          </p:cNvSpPr>
          <p:nvPr>
            <p:ph type="sldNum" sz="quarter" idx="10"/>
          </p:nvPr>
        </p:nvSpPr>
        <p:spPr/>
        <p:txBody>
          <a:bodyPr/>
          <a:lstStyle/>
          <a:p>
            <a:fld id="{2D9E14CC-2DBD-46FF-A4A3-27C8D547286A}" type="slidenum">
              <a:rPr lang="en-US" smtClean="0"/>
              <a:pPr/>
              <a:t>11</a:t>
            </a:fld>
            <a:endParaRPr lang="en-US"/>
          </a:p>
        </p:txBody>
      </p:sp>
    </p:spTree>
    <p:extLst>
      <p:ext uri="{BB962C8B-B14F-4D97-AF65-F5344CB8AC3E}">
        <p14:creationId xmlns:p14="http://schemas.microsoft.com/office/powerpoint/2010/main" val="8947356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D9E14CC-2DBD-46FF-A4A3-27C8D547286A}" type="slidenum">
              <a:rPr lang="en-US" smtClean="0"/>
              <a:pPr/>
              <a:t>12</a:t>
            </a:fld>
            <a:endParaRPr lang="en-US"/>
          </a:p>
        </p:txBody>
      </p:sp>
    </p:spTree>
    <p:extLst>
      <p:ext uri="{BB962C8B-B14F-4D97-AF65-F5344CB8AC3E}">
        <p14:creationId xmlns:p14="http://schemas.microsoft.com/office/powerpoint/2010/main" val="9932163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2D9E14CC-2DBD-46FF-A4A3-27C8D547286A}" type="slidenum">
              <a:rPr lang="en-US" smtClean="0"/>
              <a:pPr/>
              <a:t>13</a:t>
            </a:fld>
            <a:endParaRPr lang="en-US"/>
          </a:p>
        </p:txBody>
      </p:sp>
    </p:spTree>
    <p:extLst>
      <p:ext uri="{BB962C8B-B14F-4D97-AF65-F5344CB8AC3E}">
        <p14:creationId xmlns:p14="http://schemas.microsoft.com/office/powerpoint/2010/main" val="4464070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a:solidFill>
                  <a:schemeClr val="tx1"/>
                </a:solidFill>
                <a:latin typeface="+mn-lt"/>
                <a:ea typeface="+mn-ea"/>
                <a:cs typeface="+mn-cs"/>
              </a:rPr>
              <a:t>What are IOTs</a:t>
            </a:r>
            <a:br>
              <a:rPr lang="en-US" dirty="0"/>
            </a:br>
            <a:r>
              <a:rPr lang="en-US" sz="1200" b="0" i="0" kern="1200" dirty="0">
                <a:solidFill>
                  <a:schemeClr val="tx1"/>
                </a:solidFill>
                <a:latin typeface="+mn-lt"/>
                <a:ea typeface="+mn-ea"/>
                <a:cs typeface="+mn-cs"/>
              </a:rPr>
              <a:t>The term IOTs stands for Internet Of Things. Internet Of Things are the objects or devices that have an IP address and can communicate over the internet with other internet enabled devices and objects. Examples for </a:t>
            </a:r>
            <a:r>
              <a:rPr lang="en-US" sz="1200" b="0" i="0" kern="1200" dirty="0" err="1">
                <a:solidFill>
                  <a:schemeClr val="tx1"/>
                </a:solidFill>
                <a:latin typeface="+mn-lt"/>
                <a:ea typeface="+mn-ea"/>
                <a:cs typeface="+mn-cs"/>
              </a:rPr>
              <a:t>IoT</a:t>
            </a:r>
            <a:r>
              <a:rPr lang="en-US" sz="1200" b="0" i="0" kern="1200" dirty="0">
                <a:solidFill>
                  <a:schemeClr val="tx1"/>
                </a:solidFill>
                <a:latin typeface="+mn-lt"/>
                <a:ea typeface="+mn-ea"/>
                <a:cs typeface="+mn-cs"/>
              </a:rPr>
              <a:t> include security systems, electronic appliances, thermostats, cars etc..., in addition to desktops, laptops, and smart phones.</a:t>
            </a:r>
            <a:endParaRPr lang="en-US" dirty="0"/>
          </a:p>
        </p:txBody>
      </p:sp>
      <p:sp>
        <p:nvSpPr>
          <p:cNvPr id="4" name="Slide Number Placeholder 3"/>
          <p:cNvSpPr>
            <a:spLocks noGrp="1"/>
          </p:cNvSpPr>
          <p:nvPr>
            <p:ph type="sldNum" sz="quarter" idx="10"/>
          </p:nvPr>
        </p:nvSpPr>
        <p:spPr/>
        <p:txBody>
          <a:bodyPr/>
          <a:lstStyle/>
          <a:p>
            <a:fld id="{2D9E14CC-2DBD-46FF-A4A3-27C8D547286A}"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1" i="0" kern="1200" dirty="0">
                <a:solidFill>
                  <a:schemeClr val="tx1"/>
                </a:solidFill>
                <a:latin typeface="+mn-lt"/>
                <a:ea typeface="+mn-ea"/>
                <a:cs typeface="+mn-cs"/>
              </a:rPr>
              <a:t>What are IOTs</a:t>
            </a:r>
            <a:br>
              <a:rPr lang="en-US" dirty="0"/>
            </a:br>
            <a:r>
              <a:rPr lang="en-US" sz="1200" b="0" i="0" kern="1200" dirty="0">
                <a:solidFill>
                  <a:schemeClr val="tx1"/>
                </a:solidFill>
                <a:latin typeface="+mn-lt"/>
                <a:ea typeface="+mn-ea"/>
                <a:cs typeface="+mn-cs"/>
              </a:rPr>
              <a:t>The term IOTs stands for Internet Of Things. Internet Of Things are the objects or devices that have an IP address and can communicate over the internet with other internet enabled devices and objects. Examples for </a:t>
            </a:r>
            <a:r>
              <a:rPr lang="en-US" sz="1200" b="0" i="0" kern="1200" dirty="0" err="1">
                <a:solidFill>
                  <a:schemeClr val="tx1"/>
                </a:solidFill>
                <a:latin typeface="+mn-lt"/>
                <a:ea typeface="+mn-ea"/>
                <a:cs typeface="+mn-cs"/>
              </a:rPr>
              <a:t>IoT</a:t>
            </a:r>
            <a:r>
              <a:rPr lang="en-US" sz="1200" b="0" i="0" kern="1200" dirty="0">
                <a:solidFill>
                  <a:schemeClr val="tx1"/>
                </a:solidFill>
                <a:latin typeface="+mn-lt"/>
                <a:ea typeface="+mn-ea"/>
                <a:cs typeface="+mn-cs"/>
              </a:rPr>
              <a:t> include security systems, electronic appliances, thermostats, cars etc..., in addition to desktops, laptops, and smart phones.</a:t>
            </a:r>
            <a:endParaRPr lang="en-US" dirty="0"/>
          </a:p>
        </p:txBody>
      </p:sp>
      <p:sp>
        <p:nvSpPr>
          <p:cNvPr id="4" name="Slide Number Placeholder 3"/>
          <p:cNvSpPr>
            <a:spLocks noGrp="1"/>
          </p:cNvSpPr>
          <p:nvPr>
            <p:ph type="sldNum" sz="quarter" idx="10"/>
          </p:nvPr>
        </p:nvSpPr>
        <p:spPr/>
        <p:txBody>
          <a:bodyPr/>
          <a:lstStyle/>
          <a:p>
            <a:fld id="{2D9E14CC-2DBD-46FF-A4A3-27C8D547286A}" type="slidenum">
              <a:rPr lang="en-US" smtClean="0"/>
              <a:pPr/>
              <a:t>15</a:t>
            </a:fld>
            <a:endParaRPr lang="en-US"/>
          </a:p>
        </p:txBody>
      </p:sp>
    </p:spTree>
    <p:extLst>
      <p:ext uri="{BB962C8B-B14F-4D97-AF65-F5344CB8AC3E}">
        <p14:creationId xmlns:p14="http://schemas.microsoft.com/office/powerpoint/2010/main" val="29089103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251AA-3535-0ED5-5E36-0522891B2D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EAE823-A761-C493-5B60-0EFFAE3C9D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A2E750-772A-8FA3-6B66-5EF7C3C0F25F}"/>
              </a:ext>
            </a:extLst>
          </p:cNvPr>
          <p:cNvSpPr>
            <a:spLocks noGrp="1"/>
          </p:cNvSpPr>
          <p:nvPr>
            <p:ph type="body" idx="1"/>
          </p:nvPr>
        </p:nvSpPr>
        <p:spPr/>
        <p:txBody>
          <a:bodyPr>
            <a:normAutofit/>
          </a:bodyPr>
          <a:lstStyle/>
          <a:p>
            <a:r>
              <a:rPr lang="en-US" sz="1200" b="1" i="0" kern="1200" dirty="0">
                <a:solidFill>
                  <a:schemeClr val="tx1"/>
                </a:solidFill>
                <a:latin typeface="+mn-lt"/>
                <a:ea typeface="+mn-ea"/>
                <a:cs typeface="+mn-cs"/>
              </a:rPr>
              <a:t>What are IOTs</a:t>
            </a:r>
            <a:br>
              <a:rPr lang="en-US" dirty="0"/>
            </a:br>
            <a:r>
              <a:rPr lang="en-US" sz="1200" b="0" i="0" kern="1200" dirty="0">
                <a:solidFill>
                  <a:schemeClr val="tx1"/>
                </a:solidFill>
                <a:latin typeface="+mn-lt"/>
                <a:ea typeface="+mn-ea"/>
                <a:cs typeface="+mn-cs"/>
              </a:rPr>
              <a:t>The term IOTs stands for Internet Of Things. Internet Of Things are the objects or devices that have an IP address and can communicate over the internet with other internet enabled devices and objects. Examples for </a:t>
            </a:r>
            <a:r>
              <a:rPr lang="en-US" sz="1200" b="0" i="0" kern="1200" dirty="0" err="1">
                <a:solidFill>
                  <a:schemeClr val="tx1"/>
                </a:solidFill>
                <a:latin typeface="+mn-lt"/>
                <a:ea typeface="+mn-ea"/>
                <a:cs typeface="+mn-cs"/>
              </a:rPr>
              <a:t>IoT</a:t>
            </a:r>
            <a:r>
              <a:rPr lang="en-US" sz="1200" b="0" i="0" kern="1200" dirty="0">
                <a:solidFill>
                  <a:schemeClr val="tx1"/>
                </a:solidFill>
                <a:latin typeface="+mn-lt"/>
                <a:ea typeface="+mn-ea"/>
                <a:cs typeface="+mn-cs"/>
              </a:rPr>
              <a:t> include security systems, electronic appliances, thermostats, cars etc..., in addition to desktops, laptops, and smart phones.</a:t>
            </a:r>
            <a:endParaRPr lang="en-US" dirty="0"/>
          </a:p>
        </p:txBody>
      </p:sp>
      <p:sp>
        <p:nvSpPr>
          <p:cNvPr id="4" name="Slide Number Placeholder 3">
            <a:extLst>
              <a:ext uri="{FF2B5EF4-FFF2-40B4-BE49-F238E27FC236}">
                <a16:creationId xmlns:a16="http://schemas.microsoft.com/office/drawing/2014/main" id="{03A72DBE-9EA0-22D8-C0B9-4B6B19E0B6ED}"/>
              </a:ext>
            </a:extLst>
          </p:cNvPr>
          <p:cNvSpPr>
            <a:spLocks noGrp="1"/>
          </p:cNvSpPr>
          <p:nvPr>
            <p:ph type="sldNum" sz="quarter" idx="10"/>
          </p:nvPr>
        </p:nvSpPr>
        <p:spPr/>
        <p:txBody>
          <a:bodyPr/>
          <a:lstStyle/>
          <a:p>
            <a:fld id="{2D9E14CC-2DBD-46FF-A4A3-27C8D547286A}" type="slidenum">
              <a:rPr lang="en-US" smtClean="0"/>
              <a:pPr/>
              <a:t>16</a:t>
            </a:fld>
            <a:endParaRPr lang="en-US"/>
          </a:p>
        </p:txBody>
      </p:sp>
    </p:spTree>
    <p:extLst>
      <p:ext uri="{BB962C8B-B14F-4D97-AF65-F5344CB8AC3E}">
        <p14:creationId xmlns:p14="http://schemas.microsoft.com/office/powerpoint/2010/main" val="35314607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457C3-5316-EFA2-B47C-A99F6BD2BB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4068E4-55CD-C072-0C8C-6058EA5515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77DC6-73E8-32AD-E9DE-7BC4566B7EF8}"/>
              </a:ext>
            </a:extLst>
          </p:cNvPr>
          <p:cNvSpPr>
            <a:spLocks noGrp="1"/>
          </p:cNvSpPr>
          <p:nvPr>
            <p:ph type="body" idx="1"/>
          </p:nvPr>
        </p:nvSpPr>
        <p:spPr/>
        <p:txBody>
          <a:bodyPr>
            <a:normAutofit/>
          </a:bodyPr>
          <a:lstStyle/>
          <a:p>
            <a:r>
              <a:rPr lang="en-US" sz="1200" b="1" i="0" kern="1200" dirty="0">
                <a:solidFill>
                  <a:schemeClr val="tx1"/>
                </a:solidFill>
                <a:latin typeface="+mn-lt"/>
                <a:ea typeface="+mn-ea"/>
                <a:cs typeface="+mn-cs"/>
              </a:rPr>
              <a:t>What are IOTs</a:t>
            </a:r>
            <a:br>
              <a:rPr lang="en-US" dirty="0"/>
            </a:br>
            <a:r>
              <a:rPr lang="en-US" sz="1200" b="0" i="0" kern="1200" dirty="0">
                <a:solidFill>
                  <a:schemeClr val="tx1"/>
                </a:solidFill>
                <a:latin typeface="+mn-lt"/>
                <a:ea typeface="+mn-ea"/>
                <a:cs typeface="+mn-cs"/>
              </a:rPr>
              <a:t>The term IOTs stands for Internet Of Things. Internet Of Things are the objects or devices that have an IP address and can communicate over the internet with other internet enabled devices and objects. Examples for </a:t>
            </a:r>
            <a:r>
              <a:rPr lang="en-US" sz="1200" b="0" i="0" kern="1200" dirty="0" err="1">
                <a:solidFill>
                  <a:schemeClr val="tx1"/>
                </a:solidFill>
                <a:latin typeface="+mn-lt"/>
                <a:ea typeface="+mn-ea"/>
                <a:cs typeface="+mn-cs"/>
              </a:rPr>
              <a:t>IoT</a:t>
            </a:r>
            <a:r>
              <a:rPr lang="en-US" sz="1200" b="0" i="0" kern="1200" dirty="0">
                <a:solidFill>
                  <a:schemeClr val="tx1"/>
                </a:solidFill>
                <a:latin typeface="+mn-lt"/>
                <a:ea typeface="+mn-ea"/>
                <a:cs typeface="+mn-cs"/>
              </a:rPr>
              <a:t> include security systems, electronic appliances, thermostats, cars etc..., in addition to desktops, laptops, and smart phones.</a:t>
            </a:r>
            <a:endParaRPr lang="en-US" dirty="0"/>
          </a:p>
        </p:txBody>
      </p:sp>
      <p:sp>
        <p:nvSpPr>
          <p:cNvPr id="4" name="Slide Number Placeholder 3">
            <a:extLst>
              <a:ext uri="{FF2B5EF4-FFF2-40B4-BE49-F238E27FC236}">
                <a16:creationId xmlns:a16="http://schemas.microsoft.com/office/drawing/2014/main" id="{CFC85E4C-F53D-19E1-2391-D4D6689937AC}"/>
              </a:ext>
            </a:extLst>
          </p:cNvPr>
          <p:cNvSpPr>
            <a:spLocks noGrp="1"/>
          </p:cNvSpPr>
          <p:nvPr>
            <p:ph type="sldNum" sz="quarter" idx="10"/>
          </p:nvPr>
        </p:nvSpPr>
        <p:spPr/>
        <p:txBody>
          <a:bodyPr/>
          <a:lstStyle/>
          <a:p>
            <a:fld id="{2D9E14CC-2DBD-46FF-A4A3-27C8D547286A}" type="slidenum">
              <a:rPr lang="en-US" smtClean="0"/>
              <a:pPr/>
              <a:t>17</a:t>
            </a:fld>
            <a:endParaRPr lang="en-US"/>
          </a:p>
        </p:txBody>
      </p:sp>
    </p:spTree>
    <p:extLst>
      <p:ext uri="{BB962C8B-B14F-4D97-AF65-F5344CB8AC3E}">
        <p14:creationId xmlns:p14="http://schemas.microsoft.com/office/powerpoint/2010/main" val="614508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1D8BD707-D9CF-40AE-B4C6-C98DA3205C09}" type="datetimeFigureOut">
              <a:rPr lang="en-US" smtClean="0"/>
              <a:pPr/>
              <a:t>10/8/2025</a:t>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a:t>Click to edit Master title style</a:t>
            </a:r>
          </a:p>
        </p:txBody>
      </p:sp>
      <p:sp>
        <p:nvSpPr>
          <p:cNvPr id="12" name="Date Placeholder 11"/>
          <p:cNvSpPr>
            <a:spLocks noGrp="1"/>
          </p:cNvSpPr>
          <p:nvPr>
            <p:ph type="dt" sz="half" idx="10"/>
          </p:nvPr>
        </p:nvSpPr>
        <p:spPr/>
        <p:txBody>
          <a:bodyPr/>
          <a:lstStyle/>
          <a:p>
            <a:fld id="{1D8BD707-D9CF-40AE-B4C6-C98DA3205C09}" type="datetimeFigureOut">
              <a:rPr lang="en-US" smtClean="0"/>
              <a:pPr/>
              <a:t>10/8/2025</a:t>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8" name="Date Placeholder 7"/>
          <p:cNvSpPr>
            <a:spLocks noGrp="1"/>
          </p:cNvSpPr>
          <p:nvPr>
            <p:ph type="dt" sz="half" idx="15"/>
          </p:nvPr>
        </p:nvSpPr>
        <p:spPr/>
        <p:txBody>
          <a:bodyPr rtlCol="0"/>
          <a:lstStyle/>
          <a:p>
            <a:fld id="{1D8BD707-D9CF-40AE-B4C6-C98DA3205C09}" type="datetimeFigureOut">
              <a:rPr lang="en-US" smtClean="0"/>
              <a:pPr/>
              <a:t>10/8/2025</a:t>
            </a:fld>
            <a:endParaRPr lang="en-US"/>
          </a:p>
        </p:txBody>
      </p:sp>
      <p:sp>
        <p:nvSpPr>
          <p:cNvPr id="10" name="Slide Number Placeholder 9"/>
          <p:cNvSpPr>
            <a:spLocks noGrp="1"/>
          </p:cNvSpPr>
          <p:nvPr>
            <p:ph type="sldNum" sz="quarter" idx="16"/>
          </p:nvPr>
        </p:nvSpPr>
        <p:spPr/>
        <p:txBody>
          <a:bodyPr rtlCol="0"/>
          <a:lstStyle/>
          <a:p>
            <a:fld id="{B6F15528-21DE-4FAA-801E-634DDDAF4B2B}" type="slidenum">
              <a:rPr lang="en-US" smtClean="0"/>
              <a:pPr/>
              <a:t>‹#›</a:t>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5"/>
          </p:nvPr>
        </p:nvSpPr>
        <p:spPr/>
        <p:txBody>
          <a:bodyPr rtlCol="0"/>
          <a:lstStyle/>
          <a:p>
            <a:fld id="{1D8BD707-D9CF-40AE-B4C6-C98DA3205C09}" type="datetimeFigureOut">
              <a:rPr lang="en-US" smtClean="0"/>
              <a:pPr/>
              <a:t>10/8/2025</a:t>
            </a:fld>
            <a:endParaRPr lang="en-US"/>
          </a:p>
        </p:txBody>
      </p:sp>
      <p:sp>
        <p:nvSpPr>
          <p:cNvPr id="12" name="Slide Number Placeholder 11"/>
          <p:cNvSpPr>
            <a:spLocks noGrp="1"/>
          </p:cNvSpPr>
          <p:nvPr>
            <p:ph type="sldNum" sz="quarter" idx="16"/>
          </p:nvPr>
        </p:nvSpPr>
        <p:spPr/>
        <p:txBody>
          <a:bodyPr rtlCol="0"/>
          <a:lstStyle/>
          <a:p>
            <a:fld id="{B6F15528-21DE-4FAA-801E-634DDDAF4B2B}" type="slidenum">
              <a:rPr lang="en-US" smtClean="0"/>
              <a:pPr/>
              <a:t>‹#›</a:t>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10/8/2025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B6F15528-21DE-4FAA-801E-634DDDAF4B2B}" type="slidenum">
              <a:rPr lang="en-US" smtClean="0"/>
              <a:pPr/>
              <a:t>‹#›</a:t>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a:t>Click to edit Master text styles</a:t>
            </a:r>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a:t>Click to edit Master title style</a:t>
            </a:r>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1D8BD707-D9CF-40AE-B4C6-C98DA3205C09}" type="datetimeFigureOut">
              <a:rPr lang="en-US" smtClean="0"/>
              <a:pPr/>
              <a:t>10/8/2025</a:t>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B6F15528-21DE-4FAA-801E-634DDDAF4B2B}" type="slidenum">
              <a:rPr lang="en-US" smtClean="0"/>
              <a:pPr/>
              <a:t>‹#›</a:t>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10/8/2025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1D8BD707-D9CF-40AE-B4C6-C98DA3205C09}" type="datetimeFigureOut">
              <a:rPr lang="en-US" smtClean="0"/>
              <a:pPr/>
              <a:t>10/8/2025</a:t>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a:t>Click to edit Master title style</a:t>
            </a:r>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1D8BD707-D9CF-40AE-B4C6-C98DA3205C09}" type="datetimeFigureOut">
              <a:rPr lang="en-US" smtClean="0"/>
              <a:pPr/>
              <a:t>10/8/2025</a:t>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t> What is REST</a:t>
            </a:r>
            <a:endParaRPr lang="en-US" dirty="0"/>
          </a:p>
        </p:txBody>
      </p:sp>
      <p:sp>
        <p:nvSpPr>
          <p:cNvPr id="5" name="Content Placeholder 4"/>
          <p:cNvSpPr>
            <a:spLocks noGrp="1"/>
          </p:cNvSpPr>
          <p:nvPr>
            <p:ph sz="quarter" idx="1"/>
          </p:nvPr>
        </p:nvSpPr>
        <p:spPr/>
        <p:txBody>
          <a:bodyPr>
            <a:normAutofit/>
          </a:bodyPr>
          <a:lstStyle/>
          <a:p>
            <a:r>
              <a:rPr lang="en-US" sz="1600" b="1" dirty="0"/>
              <a:t>REST</a:t>
            </a:r>
            <a:r>
              <a:rPr lang="en-US" sz="1600" dirty="0"/>
              <a:t> stands for </a:t>
            </a:r>
            <a:r>
              <a:rPr lang="en-US" sz="1600" b="1" dirty="0"/>
              <a:t>Representational State Transfer</a:t>
            </a:r>
            <a:r>
              <a:rPr lang="en-US" sz="1600" dirty="0"/>
              <a:t>. </a:t>
            </a:r>
          </a:p>
          <a:p>
            <a:r>
              <a:rPr lang="en-US" sz="1600" dirty="0"/>
              <a:t>It is an </a:t>
            </a:r>
            <a:r>
              <a:rPr lang="en-US" sz="1600" b="1" dirty="0"/>
              <a:t>architectural style</a:t>
            </a:r>
            <a:r>
              <a:rPr lang="en-US" sz="1600" dirty="0"/>
              <a:t> (not a framework or protocol) used to design </a:t>
            </a:r>
            <a:r>
              <a:rPr lang="en-US" sz="1600" b="1" dirty="0"/>
              <a:t>web services</a:t>
            </a:r>
            <a:r>
              <a:rPr lang="en-US" sz="1600" dirty="0"/>
              <a:t> that communicate over </a:t>
            </a:r>
            <a:r>
              <a:rPr lang="en-US" sz="1600" b="1" dirty="0"/>
              <a:t>HTTP</a:t>
            </a:r>
            <a:r>
              <a:rPr lang="en-US" sz="1600" dirty="0"/>
              <a:t>.</a:t>
            </a:r>
          </a:p>
          <a:p>
            <a:r>
              <a:rPr lang="en-US" sz="1600" dirty="0"/>
              <a:t>In simple words —</a:t>
            </a:r>
          </a:p>
          <a:p>
            <a:r>
              <a:rPr lang="en-US" sz="1600" dirty="0"/>
              <a:t>REST defines a set of rules for how clients (like browsers or mobile apps) should interact with servers.</a:t>
            </a:r>
            <a:endParaRPr lang="en-US" sz="1600" dirty="0">
              <a:latin typeface="Segoe UI" panose="020B0502040204020203" pitchFamily="34" charset="0"/>
              <a:cs typeface="Segoe UI" panose="020B05020402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B548C-3D7C-206D-7822-FAE28772985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5BA3460-5444-585C-59AD-A8604A84DD53}"/>
              </a:ext>
            </a:extLst>
          </p:cNvPr>
          <p:cNvSpPr>
            <a:spLocks noGrp="1"/>
          </p:cNvSpPr>
          <p:nvPr>
            <p:ph type="title"/>
          </p:nvPr>
        </p:nvSpPr>
        <p:spPr/>
        <p:txBody>
          <a:bodyPr>
            <a:normAutofit/>
          </a:bodyPr>
          <a:lstStyle/>
          <a:p>
            <a:r>
              <a:rPr lang="en-US" b="1" dirty="0"/>
              <a:t> Key REST Principles</a:t>
            </a:r>
            <a:endParaRPr lang="en-US" dirty="0"/>
          </a:p>
        </p:txBody>
      </p:sp>
      <p:sp>
        <p:nvSpPr>
          <p:cNvPr id="5" name="Content Placeholder 4">
            <a:extLst>
              <a:ext uri="{FF2B5EF4-FFF2-40B4-BE49-F238E27FC236}">
                <a16:creationId xmlns:a16="http://schemas.microsoft.com/office/drawing/2014/main" id="{15E0C19F-FD7B-2C4B-CC65-041070CCC860}"/>
              </a:ext>
            </a:extLst>
          </p:cNvPr>
          <p:cNvSpPr>
            <a:spLocks noGrp="1"/>
          </p:cNvSpPr>
          <p:nvPr>
            <p:ph sz="quarter" idx="1"/>
          </p:nvPr>
        </p:nvSpPr>
        <p:spPr/>
        <p:txBody>
          <a:bodyPr>
            <a:normAutofit/>
          </a:bodyPr>
          <a:lstStyle/>
          <a:p>
            <a:r>
              <a:rPr lang="en-US" sz="1600" b="1" dirty="0"/>
              <a:t>1. Client–Server Architecture</a:t>
            </a:r>
          </a:p>
          <a:p>
            <a:r>
              <a:rPr lang="en-US" sz="1600" dirty="0"/>
              <a:t>The </a:t>
            </a:r>
            <a:r>
              <a:rPr lang="en-US" sz="1600" b="1" dirty="0"/>
              <a:t>client</a:t>
            </a:r>
            <a:r>
              <a:rPr lang="en-US" sz="1600" dirty="0"/>
              <a:t> (like Angular, React, or mobile app) and the </a:t>
            </a:r>
            <a:r>
              <a:rPr lang="en-US" sz="1600" b="1" dirty="0"/>
              <a:t>server</a:t>
            </a:r>
            <a:r>
              <a:rPr lang="en-US" sz="1600" dirty="0"/>
              <a:t> (your ASP.NET Core API) are </a:t>
            </a:r>
            <a:r>
              <a:rPr lang="en-US" sz="1600" b="1" dirty="0"/>
              <a:t>separate</a:t>
            </a:r>
            <a:r>
              <a:rPr lang="en-US" sz="1600" dirty="0"/>
              <a:t>.</a:t>
            </a:r>
          </a:p>
          <a:p>
            <a:r>
              <a:rPr lang="en-US" sz="1600" dirty="0"/>
              <a:t>Client requests data, server sends back a response.</a:t>
            </a:r>
          </a:p>
          <a:p>
            <a:r>
              <a:rPr lang="en-US" sz="1600" dirty="0"/>
              <a:t>This separation improves </a:t>
            </a:r>
            <a:r>
              <a:rPr lang="en-US" sz="1600" b="1" dirty="0"/>
              <a:t>scalability</a:t>
            </a:r>
            <a:r>
              <a:rPr lang="en-US" sz="1600" dirty="0"/>
              <a:t> and </a:t>
            </a:r>
            <a:r>
              <a:rPr lang="en-US" sz="1600" b="1" dirty="0"/>
              <a:t>independence</a:t>
            </a:r>
            <a:r>
              <a:rPr lang="en-US" sz="1600" dirty="0"/>
              <a:t>.</a:t>
            </a:r>
          </a:p>
          <a:p>
            <a:r>
              <a:rPr lang="en-US" sz="1600" b="1" dirty="0"/>
              <a:t>Example:</a:t>
            </a:r>
            <a:endParaRPr lang="en-US" sz="1600" dirty="0"/>
          </a:p>
          <a:p>
            <a:r>
              <a:rPr lang="en-US" sz="1600" dirty="0"/>
              <a:t>Client: Sends </a:t>
            </a:r>
            <a:r>
              <a:rPr lang="en-US" dirty="0"/>
              <a:t>GET /</a:t>
            </a:r>
            <a:r>
              <a:rPr lang="en-US" dirty="0" err="1"/>
              <a:t>api</a:t>
            </a:r>
            <a:r>
              <a:rPr lang="en-US" dirty="0"/>
              <a:t>/products</a:t>
            </a:r>
            <a:endParaRPr lang="en-US" sz="1600" dirty="0"/>
          </a:p>
          <a:p>
            <a:r>
              <a:rPr lang="en-US" sz="1600" dirty="0"/>
              <a:t>Server: Returns product list in JSON.</a:t>
            </a:r>
          </a:p>
        </p:txBody>
      </p:sp>
    </p:spTree>
    <p:extLst>
      <p:ext uri="{BB962C8B-B14F-4D97-AF65-F5344CB8AC3E}">
        <p14:creationId xmlns:p14="http://schemas.microsoft.com/office/powerpoint/2010/main" val="1821129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3A16F-A235-5E42-C134-568C29F4207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1BCE181-06F8-F1B0-83A1-FDC418C07AD0}"/>
              </a:ext>
            </a:extLst>
          </p:cNvPr>
          <p:cNvSpPr>
            <a:spLocks noGrp="1"/>
          </p:cNvSpPr>
          <p:nvPr>
            <p:ph type="title"/>
          </p:nvPr>
        </p:nvSpPr>
        <p:spPr/>
        <p:txBody>
          <a:bodyPr>
            <a:normAutofit/>
          </a:bodyPr>
          <a:lstStyle/>
          <a:p>
            <a:r>
              <a:rPr lang="en-US" b="1" dirty="0"/>
              <a:t> Key REST Principles</a:t>
            </a:r>
            <a:endParaRPr lang="en-US" dirty="0"/>
          </a:p>
        </p:txBody>
      </p:sp>
      <p:sp>
        <p:nvSpPr>
          <p:cNvPr id="5" name="Content Placeholder 4">
            <a:extLst>
              <a:ext uri="{FF2B5EF4-FFF2-40B4-BE49-F238E27FC236}">
                <a16:creationId xmlns:a16="http://schemas.microsoft.com/office/drawing/2014/main" id="{8F565468-A61C-DCA7-3AA4-4BD0CEA495DB}"/>
              </a:ext>
            </a:extLst>
          </p:cNvPr>
          <p:cNvSpPr>
            <a:spLocks noGrp="1"/>
          </p:cNvSpPr>
          <p:nvPr>
            <p:ph sz="quarter" idx="1"/>
          </p:nvPr>
        </p:nvSpPr>
        <p:spPr/>
        <p:txBody>
          <a:bodyPr>
            <a:normAutofit/>
          </a:bodyPr>
          <a:lstStyle/>
          <a:p>
            <a:r>
              <a:rPr lang="en-US" sz="1600" b="1" dirty="0"/>
              <a:t>2. Stateless</a:t>
            </a:r>
          </a:p>
          <a:p>
            <a:r>
              <a:rPr lang="en-US" sz="1600" dirty="0"/>
              <a:t>Every request from the client to the server must contain </a:t>
            </a:r>
            <a:r>
              <a:rPr lang="en-US" sz="1600" b="1" dirty="0"/>
              <a:t>all necessary information</a:t>
            </a:r>
            <a:r>
              <a:rPr lang="en-US" sz="1600" dirty="0"/>
              <a:t> to understand and process it.</a:t>
            </a:r>
          </a:p>
          <a:p>
            <a:r>
              <a:rPr lang="en-US" sz="1600" dirty="0"/>
              <a:t>The server </a:t>
            </a:r>
            <a:r>
              <a:rPr lang="en-US" sz="1600" b="1" dirty="0"/>
              <a:t>does not store</a:t>
            </a:r>
            <a:r>
              <a:rPr lang="en-US" sz="1600" dirty="0"/>
              <a:t> any client session or state.</a:t>
            </a:r>
          </a:p>
          <a:p>
            <a:r>
              <a:rPr lang="en-US" sz="1600" b="1" dirty="0"/>
              <a:t>Example:</a:t>
            </a:r>
            <a:br>
              <a:rPr lang="en-US" sz="1600" dirty="0"/>
            </a:br>
            <a:r>
              <a:rPr lang="en-US" sz="1600" dirty="0"/>
              <a:t>If the client sends:</a:t>
            </a:r>
          </a:p>
          <a:p>
            <a:r>
              <a:rPr lang="en-US" dirty="0"/>
              <a:t>GET /</a:t>
            </a:r>
            <a:r>
              <a:rPr lang="en-US" dirty="0" err="1"/>
              <a:t>api</a:t>
            </a:r>
            <a:r>
              <a:rPr lang="en-US" dirty="0"/>
              <a:t>/products</a:t>
            </a:r>
          </a:p>
          <a:p>
            <a:r>
              <a:rPr lang="en-US" dirty="0"/>
              <a:t>Authorization: Bearer &lt;token&gt;</a:t>
            </a:r>
          </a:p>
          <a:p>
            <a:r>
              <a:rPr lang="en-US" sz="1600" dirty="0"/>
              <a:t>The server uses that token to verify the client — it doesn’t remember the user from previous requests.</a:t>
            </a:r>
          </a:p>
          <a:p>
            <a:endParaRPr lang="en-US" sz="1600" dirty="0"/>
          </a:p>
        </p:txBody>
      </p:sp>
    </p:spTree>
    <p:extLst>
      <p:ext uri="{BB962C8B-B14F-4D97-AF65-F5344CB8AC3E}">
        <p14:creationId xmlns:p14="http://schemas.microsoft.com/office/powerpoint/2010/main" val="25658890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1AC30F-C477-87B1-0A1A-AB6707EC11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487E3B6-A0A8-26E0-D69D-38B757339FA8}"/>
              </a:ext>
            </a:extLst>
          </p:cNvPr>
          <p:cNvSpPr>
            <a:spLocks noGrp="1"/>
          </p:cNvSpPr>
          <p:nvPr>
            <p:ph type="title"/>
          </p:nvPr>
        </p:nvSpPr>
        <p:spPr/>
        <p:txBody>
          <a:bodyPr>
            <a:normAutofit/>
          </a:bodyPr>
          <a:lstStyle/>
          <a:p>
            <a:r>
              <a:rPr lang="en-US" b="1" dirty="0"/>
              <a:t> Key REST Principles</a:t>
            </a:r>
            <a:endParaRPr lang="en-US" dirty="0"/>
          </a:p>
        </p:txBody>
      </p:sp>
      <p:sp>
        <p:nvSpPr>
          <p:cNvPr id="5" name="Content Placeholder 4">
            <a:extLst>
              <a:ext uri="{FF2B5EF4-FFF2-40B4-BE49-F238E27FC236}">
                <a16:creationId xmlns:a16="http://schemas.microsoft.com/office/drawing/2014/main" id="{4FBEEAEE-3721-C4EB-FC97-F7AAB8B095D9}"/>
              </a:ext>
            </a:extLst>
          </p:cNvPr>
          <p:cNvSpPr>
            <a:spLocks noGrp="1"/>
          </p:cNvSpPr>
          <p:nvPr>
            <p:ph sz="quarter" idx="1"/>
          </p:nvPr>
        </p:nvSpPr>
        <p:spPr/>
        <p:txBody>
          <a:bodyPr>
            <a:normAutofit/>
          </a:bodyPr>
          <a:lstStyle/>
          <a:p>
            <a:r>
              <a:rPr lang="en-US" sz="1600" b="1" dirty="0"/>
              <a:t>3. Resources and URIs</a:t>
            </a:r>
          </a:p>
          <a:p>
            <a:r>
              <a:rPr lang="en-US" sz="1600" dirty="0"/>
              <a:t>In REST, everything is a </a:t>
            </a:r>
            <a:r>
              <a:rPr lang="en-US" sz="1600" b="1" dirty="0"/>
              <a:t>resource</a:t>
            </a:r>
            <a:r>
              <a:rPr lang="en-US" sz="1600" dirty="0"/>
              <a:t> — like </a:t>
            </a:r>
            <a:r>
              <a:rPr lang="en-US" dirty="0"/>
              <a:t>Product</a:t>
            </a:r>
            <a:r>
              <a:rPr lang="en-US" sz="1600" dirty="0"/>
              <a:t>, </a:t>
            </a:r>
            <a:r>
              <a:rPr lang="en-US" dirty="0"/>
              <a:t>Order</a:t>
            </a:r>
            <a:r>
              <a:rPr lang="en-US" sz="1600" dirty="0"/>
              <a:t>, </a:t>
            </a:r>
            <a:r>
              <a:rPr lang="en-US" dirty="0"/>
              <a:t>Customer</a:t>
            </a:r>
            <a:r>
              <a:rPr lang="en-US" sz="1600" dirty="0"/>
              <a:t>.</a:t>
            </a:r>
          </a:p>
          <a:p>
            <a:r>
              <a:rPr lang="en-US" sz="1600" dirty="0"/>
              <a:t>Each resource is identified by a </a:t>
            </a:r>
            <a:r>
              <a:rPr lang="en-US" sz="1600" b="1" dirty="0"/>
              <a:t>unique URI (Uniform Resource Identifier)</a:t>
            </a:r>
            <a:r>
              <a:rPr lang="en-US" sz="1600" dirty="0"/>
              <a:t>.</a:t>
            </a:r>
          </a:p>
          <a:p>
            <a:r>
              <a:rPr lang="en-US" sz="1600" b="1" dirty="0"/>
              <a:t>Example:</a:t>
            </a:r>
            <a:endParaRPr lang="en-US" sz="1600" dirty="0"/>
          </a:p>
          <a:p>
            <a:r>
              <a:rPr lang="en-US" dirty="0"/>
              <a:t>/</a:t>
            </a:r>
            <a:r>
              <a:rPr lang="en-US" dirty="0" err="1"/>
              <a:t>api</a:t>
            </a:r>
            <a:r>
              <a:rPr lang="en-US" dirty="0"/>
              <a:t>/products/10  → Product with ID 10</a:t>
            </a:r>
          </a:p>
          <a:p>
            <a:r>
              <a:rPr lang="en-US" dirty="0"/>
              <a:t>/</a:t>
            </a:r>
            <a:r>
              <a:rPr lang="en-US" dirty="0" err="1"/>
              <a:t>api</a:t>
            </a:r>
            <a:r>
              <a:rPr lang="en-US" dirty="0"/>
              <a:t>/customers/3  → Customer with ID 3</a:t>
            </a:r>
          </a:p>
          <a:p>
            <a:endParaRPr lang="en-US" sz="1600" dirty="0"/>
          </a:p>
        </p:txBody>
      </p:sp>
    </p:spTree>
    <p:extLst>
      <p:ext uri="{BB962C8B-B14F-4D97-AF65-F5344CB8AC3E}">
        <p14:creationId xmlns:p14="http://schemas.microsoft.com/office/powerpoint/2010/main" val="2301427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84783-5174-6699-5615-D4A1C106277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8D848E3-A8E8-56E7-B6E8-29674568710A}"/>
              </a:ext>
            </a:extLst>
          </p:cNvPr>
          <p:cNvSpPr>
            <a:spLocks noGrp="1"/>
          </p:cNvSpPr>
          <p:nvPr>
            <p:ph type="title"/>
          </p:nvPr>
        </p:nvSpPr>
        <p:spPr/>
        <p:txBody>
          <a:bodyPr>
            <a:normAutofit/>
          </a:bodyPr>
          <a:lstStyle/>
          <a:p>
            <a:r>
              <a:rPr lang="en-US" b="1" dirty="0"/>
              <a:t> Key REST Principles</a:t>
            </a:r>
            <a:endParaRPr lang="en-US" dirty="0"/>
          </a:p>
        </p:txBody>
      </p:sp>
      <p:sp>
        <p:nvSpPr>
          <p:cNvPr id="5" name="Content Placeholder 4">
            <a:extLst>
              <a:ext uri="{FF2B5EF4-FFF2-40B4-BE49-F238E27FC236}">
                <a16:creationId xmlns:a16="http://schemas.microsoft.com/office/drawing/2014/main" id="{A094124B-4240-91D7-FD18-86B8533310E9}"/>
              </a:ext>
            </a:extLst>
          </p:cNvPr>
          <p:cNvSpPr>
            <a:spLocks noGrp="1"/>
          </p:cNvSpPr>
          <p:nvPr>
            <p:ph sz="quarter" idx="1"/>
          </p:nvPr>
        </p:nvSpPr>
        <p:spPr/>
        <p:txBody>
          <a:bodyPr>
            <a:normAutofit/>
          </a:bodyPr>
          <a:lstStyle/>
          <a:p>
            <a:r>
              <a:rPr lang="en-US" sz="1600" dirty="0"/>
              <a:t>4. Use of HTTP Methods</a:t>
            </a:r>
          </a:p>
          <a:p>
            <a:r>
              <a:rPr lang="en-US" sz="1600" dirty="0"/>
              <a:t>REST uses standard </a:t>
            </a:r>
            <a:r>
              <a:rPr lang="en-US" sz="1600" b="1" dirty="0"/>
              <a:t>HTTP methods</a:t>
            </a:r>
            <a:r>
              <a:rPr lang="en-US" sz="1600" dirty="0"/>
              <a:t> to perform operations on resources.</a:t>
            </a:r>
          </a:p>
        </p:txBody>
      </p:sp>
      <p:graphicFrame>
        <p:nvGraphicFramePr>
          <p:cNvPr id="2" name="Table 1">
            <a:extLst>
              <a:ext uri="{FF2B5EF4-FFF2-40B4-BE49-F238E27FC236}">
                <a16:creationId xmlns:a16="http://schemas.microsoft.com/office/drawing/2014/main" id="{86384171-7194-8136-D5F2-4504D418FA34}"/>
              </a:ext>
            </a:extLst>
          </p:cNvPr>
          <p:cNvGraphicFramePr>
            <a:graphicFrameLocks noGrp="1"/>
          </p:cNvGraphicFramePr>
          <p:nvPr>
            <p:extLst>
              <p:ext uri="{D42A27DB-BD31-4B8C-83A1-F6EECF244321}">
                <p14:modId xmlns:p14="http://schemas.microsoft.com/office/powerpoint/2010/main" val="1789203"/>
              </p:ext>
            </p:extLst>
          </p:nvPr>
        </p:nvGraphicFramePr>
        <p:xfrm>
          <a:off x="612648" y="2362200"/>
          <a:ext cx="7918704" cy="3942080"/>
        </p:xfrm>
        <a:graphic>
          <a:graphicData uri="http://schemas.openxmlformats.org/drawingml/2006/table">
            <a:tbl>
              <a:tblPr firstRow="1" bandRow="1">
                <a:tableStyleId>{5C22544A-7EE6-4342-B048-85BDC9FD1C3A}</a:tableStyleId>
              </a:tblPr>
              <a:tblGrid>
                <a:gridCol w="1979676">
                  <a:extLst>
                    <a:ext uri="{9D8B030D-6E8A-4147-A177-3AD203B41FA5}">
                      <a16:colId xmlns:a16="http://schemas.microsoft.com/office/drawing/2014/main" val="3216836167"/>
                    </a:ext>
                  </a:extLst>
                </a:gridCol>
                <a:gridCol w="1979676">
                  <a:extLst>
                    <a:ext uri="{9D8B030D-6E8A-4147-A177-3AD203B41FA5}">
                      <a16:colId xmlns:a16="http://schemas.microsoft.com/office/drawing/2014/main" val="1731393088"/>
                    </a:ext>
                  </a:extLst>
                </a:gridCol>
                <a:gridCol w="1979676">
                  <a:extLst>
                    <a:ext uri="{9D8B030D-6E8A-4147-A177-3AD203B41FA5}">
                      <a16:colId xmlns:a16="http://schemas.microsoft.com/office/drawing/2014/main" val="2316339019"/>
                    </a:ext>
                  </a:extLst>
                </a:gridCol>
                <a:gridCol w="1979676">
                  <a:extLst>
                    <a:ext uri="{9D8B030D-6E8A-4147-A177-3AD203B41FA5}">
                      <a16:colId xmlns:a16="http://schemas.microsoft.com/office/drawing/2014/main" val="3675475920"/>
                    </a:ext>
                  </a:extLst>
                </a:gridCol>
              </a:tblGrid>
              <a:tr h="370840">
                <a:tc>
                  <a:txBody>
                    <a:bodyPr/>
                    <a:lstStyle/>
                    <a:p>
                      <a:pPr>
                        <a:buNone/>
                      </a:pPr>
                      <a:r>
                        <a:rPr lang="en-US" dirty="0"/>
                        <a:t>HTTP Method</a:t>
                      </a:r>
                    </a:p>
                  </a:txBody>
                  <a:tcPr anchor="ctr"/>
                </a:tc>
                <a:tc>
                  <a:txBody>
                    <a:bodyPr/>
                    <a:lstStyle/>
                    <a:p>
                      <a:pPr>
                        <a:buNone/>
                      </a:pPr>
                      <a:r>
                        <a:rPr lang="en-US"/>
                        <a:t>Purpose</a:t>
                      </a:r>
                    </a:p>
                  </a:txBody>
                  <a:tcPr anchor="ctr"/>
                </a:tc>
                <a:tc>
                  <a:txBody>
                    <a:bodyPr/>
                    <a:lstStyle/>
                    <a:p>
                      <a:pPr>
                        <a:buNone/>
                      </a:pPr>
                      <a:r>
                        <a:rPr lang="en-US"/>
                        <a:t>Example</a:t>
                      </a:r>
                    </a:p>
                  </a:txBody>
                  <a:tcPr anchor="ctr"/>
                </a:tc>
                <a:tc>
                  <a:txBody>
                    <a:bodyPr/>
                    <a:lstStyle/>
                    <a:p>
                      <a:pPr>
                        <a:buNone/>
                      </a:pPr>
                      <a:r>
                        <a:rPr lang="en-US"/>
                        <a:t>Description</a:t>
                      </a:r>
                    </a:p>
                  </a:txBody>
                  <a:tcPr anchor="ctr"/>
                </a:tc>
                <a:extLst>
                  <a:ext uri="{0D108BD9-81ED-4DB2-BD59-A6C34878D82A}">
                    <a16:rowId xmlns:a16="http://schemas.microsoft.com/office/drawing/2014/main" val="2615097849"/>
                  </a:ext>
                </a:extLst>
              </a:tr>
              <a:tr h="370840">
                <a:tc>
                  <a:txBody>
                    <a:bodyPr/>
                    <a:lstStyle/>
                    <a:p>
                      <a:pPr>
                        <a:buNone/>
                      </a:pPr>
                      <a:r>
                        <a:rPr lang="en-US" b="1"/>
                        <a:t>GET</a:t>
                      </a:r>
                      <a:endParaRPr lang="en-US"/>
                    </a:p>
                  </a:txBody>
                  <a:tcPr anchor="ctr"/>
                </a:tc>
                <a:tc>
                  <a:txBody>
                    <a:bodyPr/>
                    <a:lstStyle/>
                    <a:p>
                      <a:pPr>
                        <a:buNone/>
                      </a:pPr>
                      <a:r>
                        <a:rPr lang="en-US"/>
                        <a:t>Retrieve data</a:t>
                      </a:r>
                    </a:p>
                  </a:txBody>
                  <a:tcPr anchor="ctr"/>
                </a:tc>
                <a:tc>
                  <a:txBody>
                    <a:bodyPr/>
                    <a:lstStyle/>
                    <a:p>
                      <a:pPr>
                        <a:buNone/>
                      </a:pPr>
                      <a:r>
                        <a:rPr lang="en-US">
                          <a:latin typeface="Courier New" panose="02070309020205020404" pitchFamily="49" charset="0"/>
                        </a:rPr>
                        <a:t>/api/products</a:t>
                      </a:r>
                      <a:endParaRPr lang="en-US"/>
                    </a:p>
                  </a:txBody>
                  <a:tcPr anchor="ctr"/>
                </a:tc>
                <a:tc>
                  <a:txBody>
                    <a:bodyPr/>
                    <a:lstStyle/>
                    <a:p>
                      <a:pPr>
                        <a:buNone/>
                      </a:pPr>
                      <a:r>
                        <a:rPr lang="en-US"/>
                        <a:t>Fetch all products</a:t>
                      </a:r>
                    </a:p>
                  </a:txBody>
                  <a:tcPr anchor="ctr"/>
                </a:tc>
                <a:extLst>
                  <a:ext uri="{0D108BD9-81ED-4DB2-BD59-A6C34878D82A}">
                    <a16:rowId xmlns:a16="http://schemas.microsoft.com/office/drawing/2014/main" val="2926201590"/>
                  </a:ext>
                </a:extLst>
              </a:tr>
              <a:tr h="370840">
                <a:tc>
                  <a:txBody>
                    <a:bodyPr/>
                    <a:lstStyle/>
                    <a:p>
                      <a:pPr>
                        <a:buNone/>
                      </a:pPr>
                      <a:r>
                        <a:rPr lang="en-US" b="1"/>
                        <a:t>GET (id)</a:t>
                      </a:r>
                      <a:endParaRPr lang="en-US"/>
                    </a:p>
                  </a:txBody>
                  <a:tcPr anchor="ctr"/>
                </a:tc>
                <a:tc>
                  <a:txBody>
                    <a:bodyPr/>
                    <a:lstStyle/>
                    <a:p>
                      <a:pPr>
                        <a:buNone/>
                      </a:pPr>
                      <a:r>
                        <a:rPr lang="en-US"/>
                        <a:t>Retrieve single item</a:t>
                      </a:r>
                    </a:p>
                  </a:txBody>
                  <a:tcPr anchor="ctr"/>
                </a:tc>
                <a:tc>
                  <a:txBody>
                    <a:bodyPr/>
                    <a:lstStyle/>
                    <a:p>
                      <a:pPr>
                        <a:buNone/>
                      </a:pPr>
                      <a:r>
                        <a:rPr lang="en-US">
                          <a:latin typeface="Courier New" panose="02070309020205020404" pitchFamily="49" charset="0"/>
                        </a:rPr>
                        <a:t>/api/products/5</a:t>
                      </a:r>
                      <a:endParaRPr lang="en-US"/>
                    </a:p>
                  </a:txBody>
                  <a:tcPr anchor="ctr"/>
                </a:tc>
                <a:tc>
                  <a:txBody>
                    <a:bodyPr/>
                    <a:lstStyle/>
                    <a:p>
                      <a:pPr>
                        <a:buNone/>
                      </a:pPr>
                      <a:r>
                        <a:rPr lang="en-US"/>
                        <a:t>Fetch product with ID 5</a:t>
                      </a:r>
                    </a:p>
                  </a:txBody>
                  <a:tcPr anchor="ctr"/>
                </a:tc>
                <a:extLst>
                  <a:ext uri="{0D108BD9-81ED-4DB2-BD59-A6C34878D82A}">
                    <a16:rowId xmlns:a16="http://schemas.microsoft.com/office/drawing/2014/main" val="2978752135"/>
                  </a:ext>
                </a:extLst>
              </a:tr>
              <a:tr h="370840">
                <a:tc>
                  <a:txBody>
                    <a:bodyPr/>
                    <a:lstStyle/>
                    <a:p>
                      <a:pPr>
                        <a:buNone/>
                      </a:pPr>
                      <a:r>
                        <a:rPr lang="en-US" b="1"/>
                        <a:t>POST</a:t>
                      </a:r>
                      <a:endParaRPr lang="en-US"/>
                    </a:p>
                  </a:txBody>
                  <a:tcPr anchor="ctr"/>
                </a:tc>
                <a:tc>
                  <a:txBody>
                    <a:bodyPr/>
                    <a:lstStyle/>
                    <a:p>
                      <a:pPr>
                        <a:buNone/>
                      </a:pPr>
                      <a:r>
                        <a:rPr lang="en-US"/>
                        <a:t>Create a new resource</a:t>
                      </a:r>
                    </a:p>
                  </a:txBody>
                  <a:tcPr anchor="ctr"/>
                </a:tc>
                <a:tc>
                  <a:txBody>
                    <a:bodyPr/>
                    <a:lstStyle/>
                    <a:p>
                      <a:pPr>
                        <a:buNone/>
                      </a:pPr>
                      <a:r>
                        <a:rPr lang="en-US">
                          <a:latin typeface="Courier New" panose="02070309020205020404" pitchFamily="49" charset="0"/>
                        </a:rPr>
                        <a:t>/api/products</a:t>
                      </a:r>
                      <a:endParaRPr lang="en-US"/>
                    </a:p>
                  </a:txBody>
                  <a:tcPr anchor="ctr"/>
                </a:tc>
                <a:tc>
                  <a:txBody>
                    <a:bodyPr/>
                    <a:lstStyle/>
                    <a:p>
                      <a:pPr>
                        <a:buNone/>
                      </a:pPr>
                      <a:r>
                        <a:rPr lang="en-US"/>
                        <a:t>Add a new product</a:t>
                      </a:r>
                    </a:p>
                  </a:txBody>
                  <a:tcPr anchor="ctr"/>
                </a:tc>
                <a:extLst>
                  <a:ext uri="{0D108BD9-81ED-4DB2-BD59-A6C34878D82A}">
                    <a16:rowId xmlns:a16="http://schemas.microsoft.com/office/drawing/2014/main" val="2998737514"/>
                  </a:ext>
                </a:extLst>
              </a:tr>
              <a:tr h="370840">
                <a:tc>
                  <a:txBody>
                    <a:bodyPr/>
                    <a:lstStyle/>
                    <a:p>
                      <a:pPr>
                        <a:buNone/>
                      </a:pPr>
                      <a:r>
                        <a:rPr lang="en-US" b="1"/>
                        <a:t>PUT</a:t>
                      </a:r>
                      <a:endParaRPr lang="en-US"/>
                    </a:p>
                  </a:txBody>
                  <a:tcPr anchor="ctr"/>
                </a:tc>
                <a:tc>
                  <a:txBody>
                    <a:bodyPr/>
                    <a:lstStyle/>
                    <a:p>
                      <a:pPr>
                        <a:buNone/>
                      </a:pPr>
                      <a:r>
                        <a:rPr lang="en-US"/>
                        <a:t>Update an existing resource</a:t>
                      </a:r>
                    </a:p>
                  </a:txBody>
                  <a:tcPr anchor="ctr"/>
                </a:tc>
                <a:tc>
                  <a:txBody>
                    <a:bodyPr/>
                    <a:lstStyle/>
                    <a:p>
                      <a:pPr>
                        <a:buNone/>
                      </a:pPr>
                      <a:r>
                        <a:rPr lang="en-US">
                          <a:latin typeface="Courier New" panose="02070309020205020404" pitchFamily="49" charset="0"/>
                        </a:rPr>
                        <a:t>/api/products/5</a:t>
                      </a:r>
                      <a:endParaRPr lang="en-US"/>
                    </a:p>
                  </a:txBody>
                  <a:tcPr anchor="ctr"/>
                </a:tc>
                <a:tc>
                  <a:txBody>
                    <a:bodyPr/>
                    <a:lstStyle/>
                    <a:p>
                      <a:pPr>
                        <a:buNone/>
                      </a:pPr>
                      <a:r>
                        <a:rPr lang="en-US"/>
                        <a:t>Replace product 5</a:t>
                      </a:r>
                    </a:p>
                  </a:txBody>
                  <a:tcPr anchor="ctr"/>
                </a:tc>
                <a:extLst>
                  <a:ext uri="{0D108BD9-81ED-4DB2-BD59-A6C34878D82A}">
                    <a16:rowId xmlns:a16="http://schemas.microsoft.com/office/drawing/2014/main" val="3570809780"/>
                  </a:ext>
                </a:extLst>
              </a:tr>
              <a:tr h="370840">
                <a:tc>
                  <a:txBody>
                    <a:bodyPr/>
                    <a:lstStyle/>
                    <a:p>
                      <a:pPr>
                        <a:buNone/>
                      </a:pPr>
                      <a:r>
                        <a:rPr lang="en-US" b="1"/>
                        <a:t>PATCH</a:t>
                      </a:r>
                      <a:endParaRPr lang="en-US"/>
                    </a:p>
                  </a:txBody>
                  <a:tcPr anchor="ctr"/>
                </a:tc>
                <a:tc>
                  <a:txBody>
                    <a:bodyPr/>
                    <a:lstStyle/>
                    <a:p>
                      <a:pPr>
                        <a:buNone/>
                      </a:pPr>
                      <a:r>
                        <a:rPr lang="en-US"/>
                        <a:t>Partially update resource</a:t>
                      </a:r>
                    </a:p>
                  </a:txBody>
                  <a:tcPr anchor="ctr"/>
                </a:tc>
                <a:tc>
                  <a:txBody>
                    <a:bodyPr/>
                    <a:lstStyle/>
                    <a:p>
                      <a:pPr>
                        <a:buNone/>
                      </a:pPr>
                      <a:r>
                        <a:rPr lang="en-US">
                          <a:latin typeface="Courier New" panose="02070309020205020404" pitchFamily="49" charset="0"/>
                        </a:rPr>
                        <a:t>/api/products/5</a:t>
                      </a:r>
                      <a:endParaRPr lang="en-US"/>
                    </a:p>
                  </a:txBody>
                  <a:tcPr anchor="ctr"/>
                </a:tc>
                <a:tc>
                  <a:txBody>
                    <a:bodyPr/>
                    <a:lstStyle/>
                    <a:p>
                      <a:pPr>
                        <a:buNone/>
                      </a:pPr>
                      <a:r>
                        <a:rPr lang="en-US"/>
                        <a:t>Update product name only</a:t>
                      </a:r>
                    </a:p>
                  </a:txBody>
                  <a:tcPr anchor="ctr"/>
                </a:tc>
                <a:extLst>
                  <a:ext uri="{0D108BD9-81ED-4DB2-BD59-A6C34878D82A}">
                    <a16:rowId xmlns:a16="http://schemas.microsoft.com/office/drawing/2014/main" val="2207784231"/>
                  </a:ext>
                </a:extLst>
              </a:tr>
              <a:tr h="370840">
                <a:tc>
                  <a:txBody>
                    <a:bodyPr/>
                    <a:lstStyle/>
                    <a:p>
                      <a:pPr>
                        <a:buNone/>
                      </a:pPr>
                      <a:r>
                        <a:rPr lang="en-US" b="1"/>
                        <a:t>DELETE</a:t>
                      </a:r>
                      <a:endParaRPr lang="en-US"/>
                    </a:p>
                  </a:txBody>
                  <a:tcPr anchor="ctr"/>
                </a:tc>
                <a:tc>
                  <a:txBody>
                    <a:bodyPr/>
                    <a:lstStyle/>
                    <a:p>
                      <a:pPr>
                        <a:buNone/>
                      </a:pPr>
                      <a:r>
                        <a:rPr lang="en-US"/>
                        <a:t>Delete a resource</a:t>
                      </a:r>
                    </a:p>
                  </a:txBody>
                  <a:tcPr anchor="ctr"/>
                </a:tc>
                <a:tc>
                  <a:txBody>
                    <a:bodyPr/>
                    <a:lstStyle/>
                    <a:p>
                      <a:pPr>
                        <a:buNone/>
                      </a:pPr>
                      <a:r>
                        <a:rPr lang="en-US">
                          <a:latin typeface="Courier New" panose="02070309020205020404" pitchFamily="49" charset="0"/>
                        </a:rPr>
                        <a:t>/api/products/5</a:t>
                      </a:r>
                      <a:endParaRPr lang="en-US"/>
                    </a:p>
                  </a:txBody>
                  <a:tcPr anchor="ctr"/>
                </a:tc>
                <a:tc>
                  <a:txBody>
                    <a:bodyPr/>
                    <a:lstStyle/>
                    <a:p>
                      <a:pPr>
                        <a:buNone/>
                      </a:pPr>
                      <a:r>
                        <a:rPr lang="en-US" dirty="0"/>
                        <a:t>Remove product 5</a:t>
                      </a:r>
                    </a:p>
                  </a:txBody>
                  <a:tcPr anchor="ctr"/>
                </a:tc>
                <a:extLst>
                  <a:ext uri="{0D108BD9-81ED-4DB2-BD59-A6C34878D82A}">
                    <a16:rowId xmlns:a16="http://schemas.microsoft.com/office/drawing/2014/main" val="3966130474"/>
                  </a:ext>
                </a:extLst>
              </a:tr>
            </a:tbl>
          </a:graphicData>
        </a:graphic>
      </p:graphicFrame>
    </p:spTree>
    <p:extLst>
      <p:ext uri="{BB962C8B-B14F-4D97-AF65-F5344CB8AC3E}">
        <p14:creationId xmlns:p14="http://schemas.microsoft.com/office/powerpoint/2010/main" val="2559208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09BA2-98A5-2739-D390-F993660D44D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8C98ABC-5B98-BD64-4DC8-C1FA7AC4455D}"/>
              </a:ext>
            </a:extLst>
          </p:cNvPr>
          <p:cNvSpPr>
            <a:spLocks noGrp="1"/>
          </p:cNvSpPr>
          <p:nvPr>
            <p:ph type="title"/>
          </p:nvPr>
        </p:nvSpPr>
        <p:spPr/>
        <p:txBody>
          <a:bodyPr>
            <a:normAutofit/>
          </a:bodyPr>
          <a:lstStyle/>
          <a:p>
            <a:r>
              <a:rPr lang="en-US" b="1" dirty="0"/>
              <a:t> Key REST Principles</a:t>
            </a:r>
            <a:endParaRPr lang="en-US" dirty="0"/>
          </a:p>
        </p:txBody>
      </p:sp>
      <p:sp>
        <p:nvSpPr>
          <p:cNvPr id="5" name="Content Placeholder 4">
            <a:extLst>
              <a:ext uri="{FF2B5EF4-FFF2-40B4-BE49-F238E27FC236}">
                <a16:creationId xmlns:a16="http://schemas.microsoft.com/office/drawing/2014/main" id="{92ECCCE0-F080-C782-E9E1-DF466D4A450A}"/>
              </a:ext>
            </a:extLst>
          </p:cNvPr>
          <p:cNvSpPr>
            <a:spLocks noGrp="1"/>
          </p:cNvSpPr>
          <p:nvPr>
            <p:ph sz="quarter" idx="1"/>
          </p:nvPr>
        </p:nvSpPr>
        <p:spPr/>
        <p:txBody>
          <a:bodyPr>
            <a:normAutofit/>
          </a:bodyPr>
          <a:lstStyle/>
          <a:p>
            <a:r>
              <a:rPr lang="en-US" sz="1600" b="1" dirty="0"/>
              <a:t>5. Representation</a:t>
            </a:r>
          </a:p>
          <a:p>
            <a:r>
              <a:rPr lang="en-US" sz="1600" dirty="0"/>
              <a:t>A resource can be represented in multiple formats:</a:t>
            </a:r>
          </a:p>
          <a:p>
            <a:r>
              <a:rPr lang="en-US" sz="1600" b="1" dirty="0"/>
              <a:t>JSON</a:t>
            </a:r>
            <a:r>
              <a:rPr lang="en-US" sz="1600" dirty="0"/>
              <a:t> (most common)</a:t>
            </a:r>
          </a:p>
          <a:p>
            <a:r>
              <a:rPr lang="en-US" sz="1600" b="1" dirty="0"/>
              <a:t>XML</a:t>
            </a:r>
            <a:endParaRPr lang="en-US" sz="1600" dirty="0"/>
          </a:p>
          <a:p>
            <a:r>
              <a:rPr lang="en-US" sz="1600" b="1" dirty="0"/>
              <a:t>YAML</a:t>
            </a:r>
            <a:endParaRPr lang="en-US" sz="1600" dirty="0"/>
          </a:p>
          <a:p>
            <a:r>
              <a:rPr lang="en-US" sz="1600" b="1" dirty="0"/>
              <a:t>HTML</a:t>
            </a:r>
            <a:endParaRPr lang="en-US" sz="1600" dirty="0"/>
          </a:p>
          <a:p>
            <a:endParaRPr lang="en-US" sz="1600" dirty="0"/>
          </a:p>
        </p:txBody>
      </p:sp>
    </p:spTree>
    <p:extLst>
      <p:ext uri="{BB962C8B-B14F-4D97-AF65-F5344CB8AC3E}">
        <p14:creationId xmlns:p14="http://schemas.microsoft.com/office/powerpoint/2010/main" val="4168416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30CB1-9556-5A8F-B473-348A6DC9092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A8CBF37-FD43-FCB5-5C51-EE26CD9B93DA}"/>
              </a:ext>
            </a:extLst>
          </p:cNvPr>
          <p:cNvSpPr>
            <a:spLocks noGrp="1"/>
          </p:cNvSpPr>
          <p:nvPr>
            <p:ph type="title"/>
          </p:nvPr>
        </p:nvSpPr>
        <p:spPr/>
        <p:txBody>
          <a:bodyPr>
            <a:normAutofit/>
          </a:bodyPr>
          <a:lstStyle/>
          <a:p>
            <a:r>
              <a:rPr lang="en-US" b="1" dirty="0"/>
              <a:t> Key REST Principles</a:t>
            </a:r>
            <a:endParaRPr lang="en-US" dirty="0"/>
          </a:p>
        </p:txBody>
      </p:sp>
      <p:sp>
        <p:nvSpPr>
          <p:cNvPr id="5" name="Content Placeholder 4">
            <a:extLst>
              <a:ext uri="{FF2B5EF4-FFF2-40B4-BE49-F238E27FC236}">
                <a16:creationId xmlns:a16="http://schemas.microsoft.com/office/drawing/2014/main" id="{5C745DA5-F5B5-A38F-5508-5576C6975503}"/>
              </a:ext>
            </a:extLst>
          </p:cNvPr>
          <p:cNvSpPr>
            <a:spLocks noGrp="1"/>
          </p:cNvSpPr>
          <p:nvPr>
            <p:ph sz="quarter" idx="1"/>
          </p:nvPr>
        </p:nvSpPr>
        <p:spPr/>
        <p:txBody>
          <a:bodyPr>
            <a:normAutofit/>
          </a:bodyPr>
          <a:lstStyle/>
          <a:p>
            <a:r>
              <a:rPr lang="en-US" sz="1600" b="1" dirty="0"/>
              <a:t>6. Uniform Interface</a:t>
            </a:r>
          </a:p>
          <a:p>
            <a:r>
              <a:rPr lang="en-US" sz="1600" dirty="0"/>
              <a:t>REST has a consistent way of interacting with resources — this uniformity simplifies development.</a:t>
            </a:r>
          </a:p>
          <a:p>
            <a:r>
              <a:rPr lang="en-US" sz="1600" dirty="0"/>
              <a:t>It includes:</a:t>
            </a:r>
          </a:p>
          <a:p>
            <a:r>
              <a:rPr lang="en-US" sz="1600" dirty="0"/>
              <a:t>Standard HTTP methods (GET, POST, PUT, DELETE)</a:t>
            </a:r>
          </a:p>
          <a:p>
            <a:r>
              <a:rPr lang="en-US" sz="1600" dirty="0"/>
              <a:t>Consistent URI naming</a:t>
            </a:r>
          </a:p>
          <a:p>
            <a:r>
              <a:rPr lang="en-US" sz="1600" dirty="0"/>
              <a:t>Use of status codes (200, 201, 404, 500, etc.)</a:t>
            </a:r>
          </a:p>
          <a:p>
            <a:r>
              <a:rPr lang="en-US" sz="1600" dirty="0"/>
              <a:t>Use of representations (JSON, XML)</a:t>
            </a:r>
          </a:p>
          <a:p>
            <a:endParaRPr lang="en-US" sz="1600" dirty="0"/>
          </a:p>
        </p:txBody>
      </p:sp>
    </p:spTree>
    <p:extLst>
      <p:ext uri="{BB962C8B-B14F-4D97-AF65-F5344CB8AC3E}">
        <p14:creationId xmlns:p14="http://schemas.microsoft.com/office/powerpoint/2010/main" val="32316256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0C0AF-3E08-90AA-4B62-462138C22F5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C898A95-80AB-FC90-38D2-41BE716B731E}"/>
              </a:ext>
            </a:extLst>
          </p:cNvPr>
          <p:cNvSpPr>
            <a:spLocks noGrp="1"/>
          </p:cNvSpPr>
          <p:nvPr>
            <p:ph type="title"/>
          </p:nvPr>
        </p:nvSpPr>
        <p:spPr/>
        <p:txBody>
          <a:bodyPr>
            <a:normAutofit/>
          </a:bodyPr>
          <a:lstStyle/>
          <a:p>
            <a:r>
              <a:rPr lang="en-US" b="1" dirty="0"/>
              <a:t> Key REST Principles</a:t>
            </a:r>
            <a:endParaRPr lang="en-US" dirty="0"/>
          </a:p>
        </p:txBody>
      </p:sp>
      <p:sp>
        <p:nvSpPr>
          <p:cNvPr id="5" name="Content Placeholder 4">
            <a:extLst>
              <a:ext uri="{FF2B5EF4-FFF2-40B4-BE49-F238E27FC236}">
                <a16:creationId xmlns:a16="http://schemas.microsoft.com/office/drawing/2014/main" id="{B246B91B-79CB-DDF7-7663-582D04E7DB9A}"/>
              </a:ext>
            </a:extLst>
          </p:cNvPr>
          <p:cNvSpPr>
            <a:spLocks noGrp="1"/>
          </p:cNvSpPr>
          <p:nvPr>
            <p:ph sz="quarter" idx="1"/>
          </p:nvPr>
        </p:nvSpPr>
        <p:spPr/>
        <p:txBody>
          <a:bodyPr>
            <a:normAutofit/>
          </a:bodyPr>
          <a:lstStyle/>
          <a:p>
            <a:r>
              <a:rPr lang="en-US" sz="1600" b="1" dirty="0"/>
              <a:t>7. Cacheable</a:t>
            </a:r>
          </a:p>
          <a:p>
            <a:r>
              <a:rPr lang="en-US" sz="1600" dirty="0"/>
              <a:t>Responses from the server can be </a:t>
            </a:r>
            <a:r>
              <a:rPr lang="en-US" sz="1600" b="1" dirty="0"/>
              <a:t>cached</a:t>
            </a:r>
            <a:r>
              <a:rPr lang="en-US" sz="1600" dirty="0"/>
              <a:t> by the client to improve performance.</a:t>
            </a:r>
          </a:p>
          <a:p>
            <a:r>
              <a:rPr lang="en-US" sz="1600" dirty="0"/>
              <a:t>Example: A list of products that rarely changes can be cached for 10 minutes.</a:t>
            </a:r>
          </a:p>
          <a:p>
            <a:r>
              <a:rPr lang="en-US" sz="1600" b="1" dirty="0"/>
              <a:t>8. Layered System</a:t>
            </a:r>
          </a:p>
          <a:p>
            <a:r>
              <a:rPr lang="en-US" sz="1600" dirty="0"/>
              <a:t>REST allows layered architecture — client doesn’t know if it’s talking to the actual server or a proxy/load balancer.</a:t>
            </a:r>
          </a:p>
          <a:p>
            <a:r>
              <a:rPr lang="en-US" sz="1600" dirty="0"/>
              <a:t>This improves </a:t>
            </a:r>
            <a:r>
              <a:rPr lang="en-US" sz="1600" b="1" dirty="0"/>
              <a:t>security</a:t>
            </a:r>
            <a:r>
              <a:rPr lang="en-US" sz="1600" dirty="0"/>
              <a:t> and </a:t>
            </a:r>
            <a:r>
              <a:rPr lang="en-US" sz="1600" b="1" dirty="0"/>
              <a:t>scalability</a:t>
            </a:r>
            <a:r>
              <a:rPr lang="en-US" sz="1600" dirty="0"/>
              <a:t>.</a:t>
            </a:r>
          </a:p>
          <a:p>
            <a:endParaRPr lang="en-US" sz="1600" dirty="0"/>
          </a:p>
        </p:txBody>
      </p:sp>
    </p:spTree>
    <p:extLst>
      <p:ext uri="{BB962C8B-B14F-4D97-AF65-F5344CB8AC3E}">
        <p14:creationId xmlns:p14="http://schemas.microsoft.com/office/powerpoint/2010/main" val="3035857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641F0-D5A7-B352-EEE8-FE8D3D5A954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622E6F3-43D9-1B9B-4B06-4370CD0CFC44}"/>
              </a:ext>
            </a:extLst>
          </p:cNvPr>
          <p:cNvSpPr>
            <a:spLocks noGrp="1"/>
          </p:cNvSpPr>
          <p:nvPr>
            <p:ph type="title"/>
          </p:nvPr>
        </p:nvSpPr>
        <p:spPr/>
        <p:txBody>
          <a:bodyPr>
            <a:normAutofit/>
          </a:bodyPr>
          <a:lstStyle/>
          <a:p>
            <a:r>
              <a:rPr lang="en-US" b="1" dirty="0"/>
              <a:t> </a:t>
            </a:r>
            <a:r>
              <a:rPr lang="en-US" dirty="0"/>
              <a:t> RESTful vs Non-RESTful APIs</a:t>
            </a:r>
          </a:p>
        </p:txBody>
      </p:sp>
      <p:graphicFrame>
        <p:nvGraphicFramePr>
          <p:cNvPr id="2" name="Content Placeholder 1">
            <a:extLst>
              <a:ext uri="{FF2B5EF4-FFF2-40B4-BE49-F238E27FC236}">
                <a16:creationId xmlns:a16="http://schemas.microsoft.com/office/drawing/2014/main" id="{23DCD45A-2022-E7DB-1DCD-552FE783FC32}"/>
              </a:ext>
            </a:extLst>
          </p:cNvPr>
          <p:cNvGraphicFramePr>
            <a:graphicFrameLocks noGrp="1"/>
          </p:cNvGraphicFramePr>
          <p:nvPr>
            <p:ph sz="quarter" idx="1"/>
            <p:extLst>
              <p:ext uri="{D42A27DB-BD31-4B8C-83A1-F6EECF244321}">
                <p14:modId xmlns:p14="http://schemas.microsoft.com/office/powerpoint/2010/main" val="88072778"/>
              </p:ext>
            </p:extLst>
          </p:nvPr>
        </p:nvGraphicFramePr>
        <p:xfrm>
          <a:off x="495301" y="1828800"/>
          <a:ext cx="8153398" cy="2225040"/>
        </p:xfrm>
        <a:graphic>
          <a:graphicData uri="http://schemas.openxmlformats.org/drawingml/2006/table">
            <a:tbl>
              <a:tblPr firstRow="1" bandRow="1">
                <a:tableStyleId>{5C22544A-7EE6-4342-B048-85BDC9FD1C3A}</a:tableStyleId>
              </a:tblPr>
              <a:tblGrid>
                <a:gridCol w="4076699">
                  <a:extLst>
                    <a:ext uri="{9D8B030D-6E8A-4147-A177-3AD203B41FA5}">
                      <a16:colId xmlns:a16="http://schemas.microsoft.com/office/drawing/2014/main" val="2904586943"/>
                    </a:ext>
                  </a:extLst>
                </a:gridCol>
                <a:gridCol w="4076699">
                  <a:extLst>
                    <a:ext uri="{9D8B030D-6E8A-4147-A177-3AD203B41FA5}">
                      <a16:colId xmlns:a16="http://schemas.microsoft.com/office/drawing/2014/main" val="3037620437"/>
                    </a:ext>
                  </a:extLst>
                </a:gridCol>
              </a:tblGrid>
              <a:tr h="370840">
                <a:tc>
                  <a:txBody>
                    <a:bodyPr/>
                    <a:lstStyle/>
                    <a:p>
                      <a:pPr>
                        <a:buNone/>
                      </a:pPr>
                      <a:r>
                        <a:rPr lang="en-US" dirty="0"/>
                        <a:t>RESTful API</a:t>
                      </a:r>
                    </a:p>
                  </a:txBody>
                  <a:tcPr anchor="ctr"/>
                </a:tc>
                <a:tc>
                  <a:txBody>
                    <a:bodyPr/>
                    <a:lstStyle/>
                    <a:p>
                      <a:pPr>
                        <a:buNone/>
                      </a:pPr>
                      <a:r>
                        <a:rPr lang="en-US"/>
                        <a:t>Non-RESTful API</a:t>
                      </a:r>
                    </a:p>
                  </a:txBody>
                  <a:tcPr anchor="ctr"/>
                </a:tc>
                <a:extLst>
                  <a:ext uri="{0D108BD9-81ED-4DB2-BD59-A6C34878D82A}">
                    <a16:rowId xmlns:a16="http://schemas.microsoft.com/office/drawing/2014/main" val="1161020689"/>
                  </a:ext>
                </a:extLst>
              </a:tr>
              <a:tr h="370840">
                <a:tc>
                  <a:txBody>
                    <a:bodyPr/>
                    <a:lstStyle/>
                    <a:p>
                      <a:pPr>
                        <a:buNone/>
                      </a:pPr>
                      <a:r>
                        <a:rPr lang="en-US"/>
                        <a:t>Uses HTTP verbs properly</a:t>
                      </a:r>
                    </a:p>
                  </a:txBody>
                  <a:tcPr anchor="ctr"/>
                </a:tc>
                <a:tc>
                  <a:txBody>
                    <a:bodyPr/>
                    <a:lstStyle/>
                    <a:p>
                      <a:pPr>
                        <a:buNone/>
                      </a:pPr>
                      <a:r>
                        <a:rPr lang="en-US"/>
                        <a:t>Uses only POST for everything</a:t>
                      </a:r>
                    </a:p>
                  </a:txBody>
                  <a:tcPr anchor="ctr"/>
                </a:tc>
                <a:extLst>
                  <a:ext uri="{0D108BD9-81ED-4DB2-BD59-A6C34878D82A}">
                    <a16:rowId xmlns:a16="http://schemas.microsoft.com/office/drawing/2014/main" val="1294560270"/>
                  </a:ext>
                </a:extLst>
              </a:tr>
              <a:tr h="370840">
                <a:tc>
                  <a:txBody>
                    <a:bodyPr/>
                    <a:lstStyle/>
                    <a:p>
                      <a:pPr>
                        <a:buNone/>
                      </a:pPr>
                      <a:r>
                        <a:rPr lang="en-US"/>
                        <a:t>Stateless</a:t>
                      </a:r>
                    </a:p>
                  </a:txBody>
                  <a:tcPr anchor="ctr"/>
                </a:tc>
                <a:tc>
                  <a:txBody>
                    <a:bodyPr/>
                    <a:lstStyle/>
                    <a:p>
                      <a:pPr>
                        <a:buNone/>
                      </a:pPr>
                      <a:r>
                        <a:rPr lang="en-US"/>
                        <a:t>Stores session info</a:t>
                      </a:r>
                    </a:p>
                  </a:txBody>
                  <a:tcPr anchor="ctr"/>
                </a:tc>
                <a:extLst>
                  <a:ext uri="{0D108BD9-81ED-4DB2-BD59-A6C34878D82A}">
                    <a16:rowId xmlns:a16="http://schemas.microsoft.com/office/drawing/2014/main" val="1997994901"/>
                  </a:ext>
                </a:extLst>
              </a:tr>
              <a:tr h="370840">
                <a:tc>
                  <a:txBody>
                    <a:bodyPr/>
                    <a:lstStyle/>
                    <a:p>
                      <a:pPr>
                        <a:buNone/>
                      </a:pPr>
                      <a:r>
                        <a:rPr lang="en-US"/>
                        <a:t>Resource-based URLs</a:t>
                      </a:r>
                    </a:p>
                  </a:txBody>
                  <a:tcPr anchor="ctr"/>
                </a:tc>
                <a:tc>
                  <a:txBody>
                    <a:bodyPr/>
                    <a:lstStyle/>
                    <a:p>
                      <a:pPr>
                        <a:buNone/>
                      </a:pPr>
                      <a:r>
                        <a:rPr lang="en-US"/>
                        <a:t>Action-based URLs</a:t>
                      </a:r>
                    </a:p>
                  </a:txBody>
                  <a:tcPr anchor="ctr"/>
                </a:tc>
                <a:extLst>
                  <a:ext uri="{0D108BD9-81ED-4DB2-BD59-A6C34878D82A}">
                    <a16:rowId xmlns:a16="http://schemas.microsoft.com/office/drawing/2014/main" val="2416445290"/>
                  </a:ext>
                </a:extLst>
              </a:tr>
              <a:tr h="370840">
                <a:tc>
                  <a:txBody>
                    <a:bodyPr/>
                    <a:lstStyle/>
                    <a:p>
                      <a:pPr>
                        <a:buNone/>
                      </a:pPr>
                      <a:r>
                        <a:rPr lang="en-US">
                          <a:latin typeface="Courier New" panose="02070309020205020404" pitchFamily="49" charset="0"/>
                        </a:rPr>
                        <a:t>/api/products/5</a:t>
                      </a:r>
                      <a:endParaRPr lang="en-US"/>
                    </a:p>
                  </a:txBody>
                  <a:tcPr anchor="ctr"/>
                </a:tc>
                <a:tc>
                  <a:txBody>
                    <a:bodyPr/>
                    <a:lstStyle/>
                    <a:p>
                      <a:pPr>
                        <a:buNone/>
                      </a:pPr>
                      <a:r>
                        <a:rPr lang="en-US">
                          <a:latin typeface="Courier New" panose="02070309020205020404" pitchFamily="49" charset="0"/>
                        </a:rPr>
                        <a:t>/api/getProductById?id=5</a:t>
                      </a:r>
                      <a:endParaRPr lang="en-US"/>
                    </a:p>
                  </a:txBody>
                  <a:tcPr anchor="ctr"/>
                </a:tc>
                <a:extLst>
                  <a:ext uri="{0D108BD9-81ED-4DB2-BD59-A6C34878D82A}">
                    <a16:rowId xmlns:a16="http://schemas.microsoft.com/office/drawing/2014/main" val="203050044"/>
                  </a:ext>
                </a:extLst>
              </a:tr>
              <a:tr h="370840">
                <a:tc>
                  <a:txBody>
                    <a:bodyPr/>
                    <a:lstStyle/>
                    <a:p>
                      <a:pPr>
                        <a:buNone/>
                      </a:pPr>
                      <a:r>
                        <a:rPr lang="en-US"/>
                        <a:t>Returns JSON</a:t>
                      </a:r>
                    </a:p>
                  </a:txBody>
                  <a:tcPr anchor="ctr"/>
                </a:tc>
                <a:tc>
                  <a:txBody>
                    <a:bodyPr/>
                    <a:lstStyle/>
                    <a:p>
                      <a:pPr>
                        <a:buNone/>
                      </a:pPr>
                      <a:r>
                        <a:rPr lang="en-US" dirty="0"/>
                        <a:t>Might return HTML</a:t>
                      </a:r>
                    </a:p>
                  </a:txBody>
                  <a:tcPr anchor="ctr"/>
                </a:tc>
                <a:extLst>
                  <a:ext uri="{0D108BD9-81ED-4DB2-BD59-A6C34878D82A}">
                    <a16:rowId xmlns:a16="http://schemas.microsoft.com/office/drawing/2014/main" val="1388285681"/>
                  </a:ext>
                </a:extLst>
              </a:tr>
            </a:tbl>
          </a:graphicData>
        </a:graphic>
      </p:graphicFrame>
    </p:spTree>
    <p:extLst>
      <p:ext uri="{BB962C8B-B14F-4D97-AF65-F5344CB8AC3E}">
        <p14:creationId xmlns:p14="http://schemas.microsoft.com/office/powerpoint/2010/main" val="29962022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79EF-DD8B-833A-CD20-B57C9BE7CF8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3E84C12-B7DC-3DF7-8CC1-C9B8CF9EA3B8}"/>
              </a:ext>
            </a:extLst>
          </p:cNvPr>
          <p:cNvSpPr>
            <a:spLocks noGrp="1"/>
          </p:cNvSpPr>
          <p:nvPr>
            <p:ph type="title"/>
          </p:nvPr>
        </p:nvSpPr>
        <p:spPr/>
        <p:txBody>
          <a:bodyPr>
            <a:normAutofit fontScale="90000"/>
          </a:bodyPr>
          <a:lstStyle/>
          <a:p>
            <a:r>
              <a:rPr lang="en-US" b="1" dirty="0"/>
              <a:t> </a:t>
            </a:r>
            <a:r>
              <a:rPr lang="en-US" dirty="0"/>
              <a:t> Example — REST in Action (E-Commerce)</a:t>
            </a:r>
          </a:p>
        </p:txBody>
      </p:sp>
      <p:graphicFrame>
        <p:nvGraphicFramePr>
          <p:cNvPr id="6" name="Table 5">
            <a:extLst>
              <a:ext uri="{FF2B5EF4-FFF2-40B4-BE49-F238E27FC236}">
                <a16:creationId xmlns:a16="http://schemas.microsoft.com/office/drawing/2014/main" id="{B0D89D4C-FDC5-2ABB-A114-6570EC487741}"/>
              </a:ext>
            </a:extLst>
          </p:cNvPr>
          <p:cNvGraphicFramePr>
            <a:graphicFrameLocks noGrp="1"/>
          </p:cNvGraphicFramePr>
          <p:nvPr>
            <p:extLst>
              <p:ext uri="{D42A27DB-BD31-4B8C-83A1-F6EECF244321}">
                <p14:modId xmlns:p14="http://schemas.microsoft.com/office/powerpoint/2010/main" val="2757927376"/>
              </p:ext>
            </p:extLst>
          </p:nvPr>
        </p:nvGraphicFramePr>
        <p:xfrm>
          <a:off x="152400" y="1588975"/>
          <a:ext cx="8613646" cy="5161436"/>
        </p:xfrm>
        <a:graphic>
          <a:graphicData uri="http://schemas.openxmlformats.org/drawingml/2006/table">
            <a:tbl>
              <a:tblPr firstRow="1" bandRow="1">
                <a:tableStyleId>{5C22544A-7EE6-4342-B048-85BDC9FD1C3A}</a:tableStyleId>
              </a:tblPr>
              <a:tblGrid>
                <a:gridCol w="1722729">
                  <a:extLst>
                    <a:ext uri="{9D8B030D-6E8A-4147-A177-3AD203B41FA5}">
                      <a16:colId xmlns:a16="http://schemas.microsoft.com/office/drawing/2014/main" val="1038850420"/>
                    </a:ext>
                  </a:extLst>
                </a:gridCol>
                <a:gridCol w="1172100">
                  <a:extLst>
                    <a:ext uri="{9D8B030D-6E8A-4147-A177-3AD203B41FA5}">
                      <a16:colId xmlns:a16="http://schemas.microsoft.com/office/drawing/2014/main" val="1868297832"/>
                    </a:ext>
                  </a:extLst>
                </a:gridCol>
                <a:gridCol w="2273359">
                  <a:extLst>
                    <a:ext uri="{9D8B030D-6E8A-4147-A177-3AD203B41FA5}">
                      <a16:colId xmlns:a16="http://schemas.microsoft.com/office/drawing/2014/main" val="1752782666"/>
                    </a:ext>
                  </a:extLst>
                </a:gridCol>
                <a:gridCol w="1722729">
                  <a:extLst>
                    <a:ext uri="{9D8B030D-6E8A-4147-A177-3AD203B41FA5}">
                      <a16:colId xmlns:a16="http://schemas.microsoft.com/office/drawing/2014/main" val="323019621"/>
                    </a:ext>
                  </a:extLst>
                </a:gridCol>
                <a:gridCol w="1722729">
                  <a:extLst>
                    <a:ext uri="{9D8B030D-6E8A-4147-A177-3AD203B41FA5}">
                      <a16:colId xmlns:a16="http://schemas.microsoft.com/office/drawing/2014/main" val="3875439592"/>
                    </a:ext>
                  </a:extLst>
                </a:gridCol>
              </a:tblGrid>
              <a:tr h="575283">
                <a:tc>
                  <a:txBody>
                    <a:bodyPr/>
                    <a:lstStyle/>
                    <a:p>
                      <a:pPr>
                        <a:buNone/>
                      </a:pPr>
                      <a:r>
                        <a:rPr lang="en-US" dirty="0"/>
                        <a:t>Operation</a:t>
                      </a:r>
                    </a:p>
                  </a:txBody>
                  <a:tcPr anchor="ctr"/>
                </a:tc>
                <a:tc>
                  <a:txBody>
                    <a:bodyPr/>
                    <a:lstStyle/>
                    <a:p>
                      <a:pPr>
                        <a:buNone/>
                      </a:pPr>
                      <a:r>
                        <a:rPr lang="en-US"/>
                        <a:t>HTTP Method</a:t>
                      </a:r>
                    </a:p>
                  </a:txBody>
                  <a:tcPr anchor="ctr"/>
                </a:tc>
                <a:tc>
                  <a:txBody>
                    <a:bodyPr/>
                    <a:lstStyle/>
                    <a:p>
                      <a:pPr>
                        <a:buNone/>
                      </a:pPr>
                      <a:r>
                        <a:rPr lang="en-US"/>
                        <a:t>Endpoint</a:t>
                      </a:r>
                    </a:p>
                  </a:txBody>
                  <a:tcPr anchor="ctr"/>
                </a:tc>
                <a:tc>
                  <a:txBody>
                    <a:bodyPr/>
                    <a:lstStyle/>
                    <a:p>
                      <a:pPr>
                        <a:buNone/>
                      </a:pPr>
                      <a:r>
                        <a:rPr lang="en-US"/>
                        <a:t>Request Body</a:t>
                      </a:r>
                    </a:p>
                  </a:txBody>
                  <a:tcPr anchor="ctr"/>
                </a:tc>
                <a:tc>
                  <a:txBody>
                    <a:bodyPr/>
                    <a:lstStyle/>
                    <a:p>
                      <a:pPr>
                        <a:buNone/>
                      </a:pPr>
                      <a:r>
                        <a:rPr lang="en-US"/>
                        <a:t>Response</a:t>
                      </a:r>
                    </a:p>
                  </a:txBody>
                  <a:tcPr anchor="ctr"/>
                </a:tc>
                <a:extLst>
                  <a:ext uri="{0D108BD9-81ED-4DB2-BD59-A6C34878D82A}">
                    <a16:rowId xmlns:a16="http://schemas.microsoft.com/office/drawing/2014/main" val="3550804822"/>
                  </a:ext>
                </a:extLst>
              </a:tr>
              <a:tr h="379913">
                <a:tc>
                  <a:txBody>
                    <a:bodyPr/>
                    <a:lstStyle/>
                    <a:p>
                      <a:pPr>
                        <a:buNone/>
                      </a:pPr>
                      <a:r>
                        <a:rPr lang="en-US"/>
                        <a:t>Get all products</a:t>
                      </a:r>
                    </a:p>
                  </a:txBody>
                  <a:tcPr anchor="ctr"/>
                </a:tc>
                <a:tc>
                  <a:txBody>
                    <a:bodyPr/>
                    <a:lstStyle/>
                    <a:p>
                      <a:pPr>
                        <a:buNone/>
                      </a:pPr>
                      <a:r>
                        <a:rPr lang="en-US"/>
                        <a:t>GET</a:t>
                      </a:r>
                    </a:p>
                  </a:txBody>
                  <a:tcPr anchor="ctr"/>
                </a:tc>
                <a:tc>
                  <a:txBody>
                    <a:bodyPr/>
                    <a:lstStyle/>
                    <a:p>
                      <a:pPr>
                        <a:buNone/>
                      </a:pPr>
                      <a:r>
                        <a:rPr lang="en-US">
                          <a:latin typeface="Courier New" panose="02070309020205020404" pitchFamily="49" charset="0"/>
                        </a:rPr>
                        <a:t>/api/products</a:t>
                      </a:r>
                      <a:endParaRPr lang="en-US"/>
                    </a:p>
                  </a:txBody>
                  <a:tcPr anchor="ctr"/>
                </a:tc>
                <a:tc>
                  <a:txBody>
                    <a:bodyPr/>
                    <a:lstStyle/>
                    <a:p>
                      <a:pPr>
                        <a:buNone/>
                      </a:pPr>
                      <a:r>
                        <a:rPr lang="en-US"/>
                        <a:t>—</a:t>
                      </a:r>
                    </a:p>
                  </a:txBody>
                  <a:tcPr anchor="ctr"/>
                </a:tc>
                <a:tc>
                  <a:txBody>
                    <a:bodyPr/>
                    <a:lstStyle/>
                    <a:p>
                      <a:pPr>
                        <a:buNone/>
                      </a:pPr>
                      <a:r>
                        <a:rPr lang="en-US"/>
                        <a:t>List of products</a:t>
                      </a:r>
                    </a:p>
                  </a:txBody>
                  <a:tcPr anchor="ctr"/>
                </a:tc>
                <a:extLst>
                  <a:ext uri="{0D108BD9-81ED-4DB2-BD59-A6C34878D82A}">
                    <a16:rowId xmlns:a16="http://schemas.microsoft.com/office/drawing/2014/main" val="4204602841"/>
                  </a:ext>
                </a:extLst>
              </a:tr>
              <a:tr h="575283">
                <a:tc>
                  <a:txBody>
                    <a:bodyPr/>
                    <a:lstStyle/>
                    <a:p>
                      <a:pPr>
                        <a:buNone/>
                      </a:pPr>
                      <a:r>
                        <a:rPr lang="en-US"/>
                        <a:t>Get one product</a:t>
                      </a:r>
                    </a:p>
                  </a:txBody>
                  <a:tcPr anchor="ctr"/>
                </a:tc>
                <a:tc>
                  <a:txBody>
                    <a:bodyPr/>
                    <a:lstStyle/>
                    <a:p>
                      <a:pPr>
                        <a:buNone/>
                      </a:pPr>
                      <a:r>
                        <a:rPr lang="en-US"/>
                        <a:t>GET</a:t>
                      </a:r>
                    </a:p>
                  </a:txBody>
                  <a:tcPr anchor="ctr"/>
                </a:tc>
                <a:tc>
                  <a:txBody>
                    <a:bodyPr/>
                    <a:lstStyle/>
                    <a:p>
                      <a:pPr>
                        <a:buNone/>
                      </a:pPr>
                      <a:r>
                        <a:rPr lang="en-US">
                          <a:latin typeface="Courier New" panose="02070309020205020404" pitchFamily="49" charset="0"/>
                        </a:rPr>
                        <a:t>/api/products/2</a:t>
                      </a:r>
                      <a:endParaRPr lang="en-US"/>
                    </a:p>
                  </a:txBody>
                  <a:tcPr anchor="ctr"/>
                </a:tc>
                <a:tc>
                  <a:txBody>
                    <a:bodyPr/>
                    <a:lstStyle/>
                    <a:p>
                      <a:pPr>
                        <a:buNone/>
                      </a:pPr>
                      <a:r>
                        <a:rPr lang="en-US"/>
                        <a:t>—</a:t>
                      </a:r>
                    </a:p>
                  </a:txBody>
                  <a:tcPr anchor="ctr"/>
                </a:tc>
                <a:tc>
                  <a:txBody>
                    <a:bodyPr/>
                    <a:lstStyle/>
                    <a:p>
                      <a:pPr>
                        <a:buNone/>
                      </a:pPr>
                      <a:r>
                        <a:rPr lang="en-US"/>
                        <a:t>Product with ID 2</a:t>
                      </a:r>
                    </a:p>
                  </a:txBody>
                  <a:tcPr anchor="ctr"/>
                </a:tc>
                <a:extLst>
                  <a:ext uri="{0D108BD9-81ED-4DB2-BD59-A6C34878D82A}">
                    <a16:rowId xmlns:a16="http://schemas.microsoft.com/office/drawing/2014/main" val="2225023125"/>
                  </a:ext>
                </a:extLst>
              </a:tr>
              <a:tr h="1068382">
                <a:tc>
                  <a:txBody>
                    <a:bodyPr/>
                    <a:lstStyle/>
                    <a:p>
                      <a:pPr>
                        <a:buNone/>
                      </a:pPr>
                      <a:r>
                        <a:rPr lang="en-US"/>
                        <a:t>Add a product</a:t>
                      </a:r>
                    </a:p>
                  </a:txBody>
                  <a:tcPr anchor="ctr"/>
                </a:tc>
                <a:tc>
                  <a:txBody>
                    <a:bodyPr/>
                    <a:lstStyle/>
                    <a:p>
                      <a:pPr>
                        <a:buNone/>
                      </a:pPr>
                      <a:r>
                        <a:rPr lang="en-US"/>
                        <a:t>POST</a:t>
                      </a:r>
                    </a:p>
                  </a:txBody>
                  <a:tcPr anchor="ctr"/>
                </a:tc>
                <a:tc>
                  <a:txBody>
                    <a:bodyPr/>
                    <a:lstStyle/>
                    <a:p>
                      <a:pPr>
                        <a:buNone/>
                      </a:pPr>
                      <a:r>
                        <a:rPr lang="en-US">
                          <a:latin typeface="Courier New" panose="02070309020205020404" pitchFamily="49" charset="0"/>
                        </a:rPr>
                        <a:t>/api/products</a:t>
                      </a:r>
                      <a:endParaRPr lang="en-US"/>
                    </a:p>
                  </a:txBody>
                  <a:tcPr anchor="ctr"/>
                </a:tc>
                <a:tc>
                  <a:txBody>
                    <a:bodyPr/>
                    <a:lstStyle/>
                    <a:p>
                      <a:pPr>
                        <a:buNone/>
                      </a:pPr>
                      <a:r>
                        <a:rPr lang="en-US">
                          <a:latin typeface="Courier New" panose="02070309020205020404" pitchFamily="49" charset="0"/>
                        </a:rPr>
                        <a:t>{ "name": "Mouse", "price": 500 }</a:t>
                      </a:r>
                      <a:endParaRPr lang="en-US"/>
                    </a:p>
                  </a:txBody>
                  <a:tcPr anchor="ctr"/>
                </a:tc>
                <a:tc>
                  <a:txBody>
                    <a:bodyPr/>
                    <a:lstStyle/>
                    <a:p>
                      <a:pPr>
                        <a:buNone/>
                      </a:pPr>
                      <a:r>
                        <a:rPr lang="en-US"/>
                        <a:t>201 Created</a:t>
                      </a:r>
                    </a:p>
                  </a:txBody>
                  <a:tcPr anchor="ctr"/>
                </a:tc>
                <a:extLst>
                  <a:ext uri="{0D108BD9-81ED-4DB2-BD59-A6C34878D82A}">
                    <a16:rowId xmlns:a16="http://schemas.microsoft.com/office/drawing/2014/main" val="1856049245"/>
                  </a:ext>
                </a:extLst>
              </a:tr>
              <a:tr h="1561482">
                <a:tc>
                  <a:txBody>
                    <a:bodyPr/>
                    <a:lstStyle/>
                    <a:p>
                      <a:pPr>
                        <a:buNone/>
                      </a:pPr>
                      <a:r>
                        <a:rPr lang="en-US"/>
                        <a:t>Update product</a:t>
                      </a:r>
                    </a:p>
                  </a:txBody>
                  <a:tcPr anchor="ctr"/>
                </a:tc>
                <a:tc>
                  <a:txBody>
                    <a:bodyPr/>
                    <a:lstStyle/>
                    <a:p>
                      <a:pPr>
                        <a:buNone/>
                      </a:pPr>
                      <a:r>
                        <a:rPr lang="en-US"/>
                        <a:t>PUT</a:t>
                      </a:r>
                    </a:p>
                  </a:txBody>
                  <a:tcPr anchor="ctr"/>
                </a:tc>
                <a:tc>
                  <a:txBody>
                    <a:bodyPr/>
                    <a:lstStyle/>
                    <a:p>
                      <a:pPr>
                        <a:buNone/>
                      </a:pPr>
                      <a:r>
                        <a:rPr lang="en-US">
                          <a:latin typeface="Courier New" panose="02070309020205020404" pitchFamily="49" charset="0"/>
                        </a:rPr>
                        <a:t>/api/products/2</a:t>
                      </a:r>
                      <a:endParaRPr lang="en-US"/>
                    </a:p>
                  </a:txBody>
                  <a:tcPr anchor="ctr"/>
                </a:tc>
                <a:tc>
                  <a:txBody>
                    <a:bodyPr/>
                    <a:lstStyle/>
                    <a:p>
                      <a:pPr>
                        <a:buNone/>
                      </a:pPr>
                      <a:r>
                        <a:rPr lang="en-US">
                          <a:latin typeface="Courier New" panose="02070309020205020404" pitchFamily="49" charset="0"/>
                        </a:rPr>
                        <a:t>{ "id": 2, "name": "Wireless Mouse", "price": 800 }</a:t>
                      </a:r>
                      <a:endParaRPr lang="en-US"/>
                    </a:p>
                  </a:txBody>
                  <a:tcPr anchor="ctr"/>
                </a:tc>
                <a:tc>
                  <a:txBody>
                    <a:bodyPr/>
                    <a:lstStyle/>
                    <a:p>
                      <a:pPr>
                        <a:buNone/>
                      </a:pPr>
                      <a:r>
                        <a:rPr lang="en-US"/>
                        <a:t>200 OK</a:t>
                      </a:r>
                    </a:p>
                  </a:txBody>
                  <a:tcPr anchor="ctr"/>
                </a:tc>
                <a:extLst>
                  <a:ext uri="{0D108BD9-81ED-4DB2-BD59-A6C34878D82A}">
                    <a16:rowId xmlns:a16="http://schemas.microsoft.com/office/drawing/2014/main" val="3294543483"/>
                  </a:ext>
                </a:extLst>
              </a:tr>
              <a:tr h="575283">
                <a:tc>
                  <a:txBody>
                    <a:bodyPr/>
                    <a:lstStyle/>
                    <a:p>
                      <a:pPr>
                        <a:buNone/>
                      </a:pPr>
                      <a:r>
                        <a:rPr lang="en-US"/>
                        <a:t>Delete product</a:t>
                      </a:r>
                    </a:p>
                  </a:txBody>
                  <a:tcPr anchor="ctr"/>
                </a:tc>
                <a:tc>
                  <a:txBody>
                    <a:bodyPr/>
                    <a:lstStyle/>
                    <a:p>
                      <a:pPr>
                        <a:buNone/>
                      </a:pPr>
                      <a:r>
                        <a:rPr lang="en-US"/>
                        <a:t>DELETE</a:t>
                      </a:r>
                    </a:p>
                  </a:txBody>
                  <a:tcPr anchor="ctr"/>
                </a:tc>
                <a:tc>
                  <a:txBody>
                    <a:bodyPr/>
                    <a:lstStyle/>
                    <a:p>
                      <a:pPr>
                        <a:buNone/>
                      </a:pPr>
                      <a:r>
                        <a:rPr lang="en-US">
                          <a:latin typeface="Courier New" panose="02070309020205020404" pitchFamily="49" charset="0"/>
                        </a:rPr>
                        <a:t>/api/products/2</a:t>
                      </a:r>
                      <a:endParaRPr lang="en-US"/>
                    </a:p>
                  </a:txBody>
                  <a:tcPr anchor="ctr"/>
                </a:tc>
                <a:tc>
                  <a:txBody>
                    <a:bodyPr/>
                    <a:lstStyle/>
                    <a:p>
                      <a:pPr>
                        <a:buNone/>
                      </a:pPr>
                      <a:r>
                        <a:rPr lang="en-US" dirty="0"/>
                        <a:t>—</a:t>
                      </a:r>
                    </a:p>
                  </a:txBody>
                  <a:tcPr anchor="ctr"/>
                </a:tc>
                <a:tc>
                  <a:txBody>
                    <a:bodyPr/>
                    <a:lstStyle/>
                    <a:p>
                      <a:pPr>
                        <a:buNone/>
                      </a:pPr>
                      <a:r>
                        <a:rPr lang="en-US" dirty="0"/>
                        <a:t>204 No Content</a:t>
                      </a:r>
                    </a:p>
                  </a:txBody>
                  <a:tcPr anchor="ctr"/>
                </a:tc>
                <a:extLst>
                  <a:ext uri="{0D108BD9-81ED-4DB2-BD59-A6C34878D82A}">
                    <a16:rowId xmlns:a16="http://schemas.microsoft.com/office/drawing/2014/main" val="2601485225"/>
                  </a:ext>
                </a:extLst>
              </a:tr>
            </a:tbl>
          </a:graphicData>
        </a:graphic>
      </p:graphicFrame>
    </p:spTree>
    <p:extLst>
      <p:ext uri="{BB962C8B-B14F-4D97-AF65-F5344CB8AC3E}">
        <p14:creationId xmlns:p14="http://schemas.microsoft.com/office/powerpoint/2010/main" val="2658004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54F8B-000F-02BA-C8B8-D3EA915C26C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82ACFB5-112C-280A-26D9-103371ED6A50}"/>
              </a:ext>
            </a:extLst>
          </p:cNvPr>
          <p:cNvSpPr>
            <a:spLocks noGrp="1"/>
          </p:cNvSpPr>
          <p:nvPr>
            <p:ph type="title"/>
          </p:nvPr>
        </p:nvSpPr>
        <p:spPr/>
        <p:txBody>
          <a:bodyPr>
            <a:normAutofit/>
          </a:bodyPr>
          <a:lstStyle/>
          <a:p>
            <a:r>
              <a:rPr lang="en-US" b="1" dirty="0"/>
              <a:t> Key REST Principles</a:t>
            </a:r>
            <a:endParaRPr lang="en-US" dirty="0"/>
          </a:p>
        </p:txBody>
      </p:sp>
      <p:sp>
        <p:nvSpPr>
          <p:cNvPr id="5" name="Content Placeholder 4">
            <a:extLst>
              <a:ext uri="{FF2B5EF4-FFF2-40B4-BE49-F238E27FC236}">
                <a16:creationId xmlns:a16="http://schemas.microsoft.com/office/drawing/2014/main" id="{7AA64DB7-1737-44F2-EECB-743E4B9C2CF7}"/>
              </a:ext>
            </a:extLst>
          </p:cNvPr>
          <p:cNvSpPr>
            <a:spLocks noGrp="1"/>
          </p:cNvSpPr>
          <p:nvPr>
            <p:ph sz="quarter" idx="1"/>
          </p:nvPr>
        </p:nvSpPr>
        <p:spPr/>
        <p:txBody>
          <a:bodyPr>
            <a:normAutofit/>
          </a:bodyPr>
          <a:lstStyle/>
          <a:p>
            <a:r>
              <a:rPr lang="en-US" sz="1600" b="1" dirty="0"/>
              <a:t>Advantages of REST</a:t>
            </a:r>
          </a:p>
          <a:p>
            <a:r>
              <a:rPr lang="en-US" sz="1600" dirty="0"/>
              <a:t>Simple and easy to understand</a:t>
            </a:r>
          </a:p>
          <a:p>
            <a:r>
              <a:rPr lang="en-US" sz="1600" dirty="0"/>
              <a:t>Lightweight and fast</a:t>
            </a:r>
          </a:p>
          <a:p>
            <a:r>
              <a:rPr lang="en-US" sz="1600" dirty="0"/>
              <a:t>Works with multiple data formats (JSON, XML)</a:t>
            </a:r>
          </a:p>
          <a:p>
            <a:r>
              <a:rPr lang="en-US" sz="1600" dirty="0"/>
              <a:t>Scalable and stateless</a:t>
            </a:r>
          </a:p>
          <a:p>
            <a:r>
              <a:rPr lang="en-US" sz="1600" dirty="0"/>
              <a:t>Widely supported by clients and tools (Postman, browsers, etc.)</a:t>
            </a:r>
          </a:p>
          <a:p>
            <a:endParaRPr lang="en-US" sz="1600" dirty="0"/>
          </a:p>
        </p:txBody>
      </p:sp>
    </p:spTree>
    <p:extLst>
      <p:ext uri="{BB962C8B-B14F-4D97-AF65-F5344CB8AC3E}">
        <p14:creationId xmlns:p14="http://schemas.microsoft.com/office/powerpoint/2010/main" val="29364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 What is Web API/Rest API</a:t>
            </a:r>
            <a:endParaRPr lang="en-US" dirty="0"/>
          </a:p>
        </p:txBody>
      </p:sp>
      <p:sp>
        <p:nvSpPr>
          <p:cNvPr id="5" name="Content Placeholder 4"/>
          <p:cNvSpPr>
            <a:spLocks noGrp="1"/>
          </p:cNvSpPr>
          <p:nvPr>
            <p:ph sz="quarter" idx="1"/>
          </p:nvPr>
        </p:nvSpPr>
        <p:spPr/>
        <p:txBody>
          <a:bodyPr>
            <a:normAutofit/>
          </a:bodyPr>
          <a:lstStyle/>
          <a:p>
            <a:r>
              <a:rPr lang="en-US" sz="1600" dirty="0"/>
              <a:t>A </a:t>
            </a:r>
            <a:r>
              <a:rPr lang="en-US" sz="1600" b="1" dirty="0"/>
              <a:t>Web API (Application Programming Interface)</a:t>
            </a:r>
            <a:r>
              <a:rPr lang="en-US" sz="1600" dirty="0"/>
              <a:t> is a way for applications to </a:t>
            </a:r>
            <a:r>
              <a:rPr lang="en-US" sz="1600" b="1" dirty="0"/>
              <a:t>communicate with each other</a:t>
            </a:r>
            <a:r>
              <a:rPr lang="en-US" sz="1600" dirty="0"/>
              <a:t> over the web — usually using </a:t>
            </a:r>
            <a:r>
              <a:rPr lang="en-US" sz="1600" b="1" dirty="0"/>
              <a:t>HTTP</a:t>
            </a:r>
            <a:r>
              <a:rPr lang="en-US" sz="1600" dirty="0"/>
              <a:t>.</a:t>
            </a:r>
            <a:endParaRPr lang="en-US" sz="1600" dirty="0">
              <a:latin typeface="Segoe UI" panose="020B0502040204020203" pitchFamily="34" charset="0"/>
              <a:cs typeface="Segoe UI" panose="020B0502040204020203" pitchFamily="34" charset="0"/>
            </a:endParaRPr>
          </a:p>
          <a:p>
            <a:r>
              <a:rPr lang="en-US" sz="1600" dirty="0"/>
              <a:t>In simple terms, it’s a </a:t>
            </a:r>
            <a:r>
              <a:rPr lang="en-US" sz="1600" b="1" dirty="0"/>
              <a:t>back-end service</a:t>
            </a:r>
            <a:r>
              <a:rPr lang="en-US" sz="1600" dirty="0"/>
              <a:t> that receives requests (data) from a client (like Angular, React, or mobile apps) and sends back responses (usually in JSON format).</a:t>
            </a:r>
          </a:p>
          <a:p>
            <a:r>
              <a:rPr lang="en-US" sz="1600" dirty="0"/>
              <a:t>Think of it as a </a:t>
            </a:r>
            <a:r>
              <a:rPr lang="en-US" sz="1600" i="1" dirty="0"/>
              <a:t>messenger</a:t>
            </a:r>
            <a:r>
              <a:rPr lang="en-US" sz="1600" dirty="0"/>
              <a:t> between client and server.</a:t>
            </a:r>
            <a:endParaRPr lang="en-US" sz="1600" dirty="0">
              <a:latin typeface="Segoe UI" panose="020B0502040204020203" pitchFamily="34" charset="0"/>
              <a:cs typeface="Segoe UI" panose="020B0502040204020203" pitchFamily="34" charset="0"/>
            </a:endParaRPr>
          </a:p>
          <a:p>
            <a:endParaRPr lang="en-US" sz="1600" dirty="0">
              <a:latin typeface="Segoe UI" panose="020B0502040204020203" pitchFamily="34" charset="0"/>
              <a:cs typeface="Segoe UI" panose="020B0502040204020203" pitchFamily="34" charset="0"/>
            </a:endParaRPr>
          </a:p>
          <a:p>
            <a:endParaRPr lang="en-US" sz="1600" dirty="0">
              <a:latin typeface="Segoe UI" panose="020B0502040204020203" pitchFamily="34" charset="0"/>
              <a:cs typeface="Segoe UI" panose="020B0502040204020203" pitchFamily="34" charset="0"/>
            </a:endParaRPr>
          </a:p>
          <a:p>
            <a:endParaRPr lang="en-US" sz="1600" dirty="0">
              <a:latin typeface="Segoe UI" panose="020B0502040204020203" pitchFamily="34" charset="0"/>
              <a:cs typeface="Segoe UI" panose="020B0502040204020203" pitchFamily="34" charset="0"/>
            </a:endParaRPr>
          </a:p>
          <a:p>
            <a:endParaRPr lang="en-US" sz="16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506476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 Key Characteristics of Web APIs</a:t>
            </a:r>
            <a:endParaRPr lang="en-US" dirty="0"/>
          </a:p>
        </p:txBody>
      </p:sp>
      <p:sp>
        <p:nvSpPr>
          <p:cNvPr id="5" name="Content Placeholder 4"/>
          <p:cNvSpPr>
            <a:spLocks noGrp="1"/>
          </p:cNvSpPr>
          <p:nvPr>
            <p:ph sz="quarter" idx="1"/>
          </p:nvPr>
        </p:nvSpPr>
        <p:spPr/>
        <p:txBody>
          <a:bodyPr>
            <a:normAutofit/>
          </a:bodyPr>
          <a:lstStyle/>
          <a:p>
            <a:r>
              <a:rPr lang="en-US" sz="1600" b="1" i="0" dirty="0">
                <a:solidFill>
                  <a:srgbClr val="383F55"/>
                </a:solidFill>
                <a:effectLst/>
                <a:latin typeface="Segoe UI" panose="020B0502040204020203" pitchFamily="34" charset="0"/>
                <a:cs typeface="Segoe UI" panose="020B0502040204020203" pitchFamily="34" charset="0"/>
              </a:rPr>
              <a:t>HTTP-Based Communication: </a:t>
            </a:r>
            <a:r>
              <a:rPr lang="en-US" sz="1600" b="0" i="0" dirty="0">
                <a:solidFill>
                  <a:srgbClr val="383F55"/>
                </a:solidFill>
                <a:effectLst/>
                <a:latin typeface="Segoe UI" panose="020B0502040204020203" pitchFamily="34" charset="0"/>
                <a:cs typeface="Segoe UI" panose="020B0502040204020203" pitchFamily="34" charset="0"/>
              </a:rPr>
              <a:t>Web APIs are designed to work over HTTP, the same protocol used for Web Browsing. This means APIs can be accessed using standard HTTP methods like GET, POST, PUT, DELETE, etc. The API endpoints are typically represented as URLs (Uniform Resource Locators).</a:t>
            </a:r>
          </a:p>
          <a:p>
            <a:r>
              <a:rPr lang="en-US" sz="1600" b="1" i="0" dirty="0">
                <a:solidFill>
                  <a:srgbClr val="383F55"/>
                </a:solidFill>
                <a:effectLst/>
                <a:latin typeface="Segoe UI" panose="020B0502040204020203" pitchFamily="34" charset="0"/>
                <a:cs typeface="Segoe UI" panose="020B0502040204020203" pitchFamily="34" charset="0"/>
              </a:rPr>
              <a:t>Data Exchange Formats: </a:t>
            </a:r>
            <a:r>
              <a:rPr lang="en-US" sz="1600" b="0" i="0" dirty="0">
                <a:solidFill>
                  <a:srgbClr val="383F55"/>
                </a:solidFill>
                <a:effectLst/>
                <a:latin typeface="Segoe UI" panose="020B0502040204020203" pitchFamily="34" charset="0"/>
                <a:cs typeface="Segoe UI" panose="020B0502040204020203" pitchFamily="34" charset="0"/>
              </a:rPr>
              <a:t>Web APIs use standardized data exchange formats such as JSON (JavaScript Object Notation) and XML (Extensible Markup Language) to structure and transmit data between the client and server. JSON has become the most popular format due to its simplicity and ease of use.</a:t>
            </a:r>
          </a:p>
          <a:p>
            <a:r>
              <a:rPr lang="en-US" sz="1600" b="1" i="0" dirty="0">
                <a:solidFill>
                  <a:srgbClr val="383F55"/>
                </a:solidFill>
                <a:effectLst/>
                <a:latin typeface="Segoe UI" panose="020B0502040204020203" pitchFamily="34" charset="0"/>
                <a:cs typeface="Segoe UI" panose="020B0502040204020203" pitchFamily="34" charset="0"/>
              </a:rPr>
              <a:t>RESTful Architecture: </a:t>
            </a:r>
            <a:r>
              <a:rPr lang="en-US" sz="1600" b="0" i="0" dirty="0">
                <a:solidFill>
                  <a:srgbClr val="383F55"/>
                </a:solidFill>
                <a:effectLst/>
                <a:latin typeface="Segoe UI" panose="020B0502040204020203" pitchFamily="34" charset="0"/>
                <a:cs typeface="Segoe UI" panose="020B0502040204020203" pitchFamily="34" charset="0"/>
              </a:rPr>
              <a:t>Web APIs are designed to follow Representational State Transfer (REST) principles. A RESTful API is stateless, uses standard HTTP methods, and organizes resources into a hierarchy with unique URLs for each resource.</a:t>
            </a:r>
          </a:p>
          <a:p>
            <a:r>
              <a:rPr lang="en-US" sz="1600" b="1" i="0" dirty="0">
                <a:solidFill>
                  <a:srgbClr val="383F55"/>
                </a:solidFill>
                <a:effectLst/>
                <a:latin typeface="Segoe UI" panose="020B0502040204020203" pitchFamily="34" charset="0"/>
                <a:cs typeface="Segoe UI" panose="020B0502040204020203" pitchFamily="34" charset="0"/>
              </a:rPr>
              <a:t>Authentication and Authorization: </a:t>
            </a:r>
            <a:r>
              <a:rPr lang="en-US" sz="1600" b="0" i="0" dirty="0">
                <a:solidFill>
                  <a:srgbClr val="383F55"/>
                </a:solidFill>
                <a:effectLst/>
                <a:latin typeface="Segoe UI" panose="020B0502040204020203" pitchFamily="34" charset="0"/>
                <a:cs typeface="Segoe UI" panose="020B0502040204020203" pitchFamily="34" charset="0"/>
              </a:rPr>
              <a:t>Web APIs implement security mechanisms for authentication and authorization to ensure that only authorized clients can access resources or perform specific actions. Common authentication methods include API keys, OAuth, and JWT (JSON Web Tokens).</a:t>
            </a:r>
            <a:endParaRPr lang="en-US" sz="1600" dirty="0">
              <a:latin typeface="Segoe UI" panose="020B0502040204020203" pitchFamily="34" charset="0"/>
              <a:cs typeface="Segoe UI" panose="020B0502040204020203" pitchFamily="34" charset="0"/>
            </a:endParaRPr>
          </a:p>
          <a:p>
            <a:endParaRPr lang="en-US" sz="1600" dirty="0">
              <a:latin typeface="Segoe UI" panose="020B0502040204020203" pitchFamily="34" charset="0"/>
              <a:cs typeface="Segoe UI" panose="020B0502040204020203" pitchFamily="34" charset="0"/>
            </a:endParaRPr>
          </a:p>
          <a:p>
            <a:endParaRPr lang="en-US" sz="1600" dirty="0">
              <a:latin typeface="Segoe UI" panose="020B0502040204020203" pitchFamily="34" charset="0"/>
              <a:cs typeface="Segoe UI" panose="020B0502040204020203" pitchFamily="34" charset="0"/>
            </a:endParaRPr>
          </a:p>
          <a:p>
            <a:endParaRPr lang="en-US" sz="1600" dirty="0">
              <a:latin typeface="Segoe UI" panose="020B0502040204020203" pitchFamily="34" charset="0"/>
              <a:cs typeface="Segoe UI" panose="020B0502040204020203" pitchFamily="34" charset="0"/>
            </a:endParaRPr>
          </a:p>
          <a:p>
            <a:endParaRPr lang="en-US" sz="1600" dirty="0">
              <a:latin typeface="Segoe UI" panose="020B0502040204020203" pitchFamily="34" charset="0"/>
              <a:cs typeface="Segoe UI" panose="020B0502040204020203" pitchFamily="34" charset="0"/>
            </a:endParaRPr>
          </a:p>
          <a:p>
            <a:endParaRPr lang="en-US" sz="1600" dirty="0">
              <a:latin typeface="Segoe UI" panose="020B0502040204020203" pitchFamily="34" charset="0"/>
              <a:cs typeface="Segoe UI" panose="020B0502040204020203" pitchFamily="34" charset="0"/>
            </a:endParaRPr>
          </a:p>
          <a:p>
            <a:endParaRPr lang="en-US" sz="16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93462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ASP.NET Core Web API?</a:t>
            </a:r>
          </a:p>
        </p:txBody>
      </p:sp>
      <p:sp>
        <p:nvSpPr>
          <p:cNvPr id="5" name="Content Placeholder 4"/>
          <p:cNvSpPr>
            <a:spLocks noGrp="1"/>
          </p:cNvSpPr>
          <p:nvPr>
            <p:ph sz="quarter" idx="1"/>
          </p:nvPr>
        </p:nvSpPr>
        <p:spPr/>
        <p:txBody>
          <a:bodyPr>
            <a:normAutofit/>
          </a:bodyPr>
          <a:lstStyle/>
          <a:p>
            <a:r>
              <a:rPr lang="en-US" sz="1800" b="1" dirty="0"/>
              <a:t>ASP.NET Core Web API</a:t>
            </a:r>
            <a:r>
              <a:rPr lang="en-US" sz="1800" dirty="0"/>
              <a:t> is a </a:t>
            </a:r>
            <a:r>
              <a:rPr lang="en-US" sz="1800" b="1" dirty="0"/>
              <a:t>framework by Microsoft</a:t>
            </a:r>
            <a:r>
              <a:rPr lang="en-US" sz="1800" dirty="0"/>
              <a:t> used to build </a:t>
            </a:r>
            <a:r>
              <a:rPr lang="en-US" sz="1800" b="1" dirty="0"/>
              <a:t>HTTP-based services</a:t>
            </a:r>
            <a:r>
              <a:rPr lang="en-US" sz="1800" dirty="0"/>
              <a:t> that follow the </a:t>
            </a:r>
            <a:r>
              <a:rPr lang="en-US" sz="1800" b="1" dirty="0"/>
              <a:t>REST</a:t>
            </a:r>
            <a:r>
              <a:rPr lang="en-US" sz="1800" dirty="0"/>
              <a:t> architectural style.</a:t>
            </a:r>
          </a:p>
          <a:p>
            <a:r>
              <a:rPr lang="en-US" sz="1800" dirty="0"/>
              <a:t>It allows different applications — such as </a:t>
            </a:r>
            <a:r>
              <a:rPr lang="en-US" sz="1800" b="1" dirty="0"/>
              <a:t>web apps</a:t>
            </a:r>
            <a:r>
              <a:rPr lang="en-US" sz="1800" dirty="0"/>
              <a:t>, </a:t>
            </a:r>
            <a:r>
              <a:rPr lang="en-US" sz="1800" b="1" dirty="0"/>
              <a:t>mobile apps</a:t>
            </a:r>
            <a:r>
              <a:rPr lang="en-US" sz="1800" dirty="0"/>
              <a:t>, </a:t>
            </a:r>
            <a:r>
              <a:rPr lang="en-US" sz="1800" b="1" dirty="0"/>
              <a:t>IoT devices</a:t>
            </a:r>
            <a:r>
              <a:rPr lang="en-US" sz="1800" dirty="0"/>
              <a:t>, or </a:t>
            </a:r>
            <a:r>
              <a:rPr lang="en-US" sz="1800" b="1" dirty="0"/>
              <a:t>third-party systems</a:t>
            </a:r>
            <a:r>
              <a:rPr lang="en-US" sz="1800" dirty="0"/>
              <a:t> — to communicate with your backend through </a:t>
            </a:r>
            <a:r>
              <a:rPr lang="en-US" sz="1800" b="1" dirty="0"/>
              <a:t>HTTP requests</a:t>
            </a:r>
            <a:r>
              <a:rPr lang="en-US" sz="1800" dirty="0"/>
              <a:t> and </a:t>
            </a:r>
            <a:r>
              <a:rPr lang="en-US" sz="1800" b="1" dirty="0"/>
              <a:t>JSON responses</a:t>
            </a:r>
            <a:r>
              <a:rPr lang="en-US" sz="1800" dirty="0"/>
              <a:t>.</a:t>
            </a:r>
          </a:p>
          <a:p>
            <a:r>
              <a:rPr lang="en-US" sz="1800" dirty="0"/>
              <a:t>💬 Think of it as:</a:t>
            </a:r>
          </a:p>
          <a:p>
            <a:r>
              <a:rPr lang="en-US" sz="1800" dirty="0"/>
              <a:t>A </a:t>
            </a:r>
            <a:r>
              <a:rPr lang="en-US" sz="1800" b="1" dirty="0"/>
              <a:t>bridge</a:t>
            </a:r>
            <a:r>
              <a:rPr lang="en-US" sz="1800" dirty="0"/>
              <a:t> between your server-side logic (database, business rules) and the client-side app (like Angular, React, or mobile app).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ASP.NET Core Web API Features</a:t>
            </a:r>
          </a:p>
        </p:txBody>
      </p:sp>
      <p:sp>
        <p:nvSpPr>
          <p:cNvPr id="5" name="Content Placeholder 4"/>
          <p:cNvSpPr>
            <a:spLocks noGrp="1"/>
          </p:cNvSpPr>
          <p:nvPr>
            <p:ph sz="quarter" idx="1"/>
          </p:nvPr>
        </p:nvSpPr>
        <p:spPr/>
        <p:txBody>
          <a:bodyPr>
            <a:normAutofit fontScale="92500" lnSpcReduction="20000"/>
          </a:bodyPr>
          <a:lstStyle/>
          <a:p>
            <a:r>
              <a:rPr lang="en-US" sz="1800" b="1" dirty="0"/>
              <a:t>Cross-Platform Support: </a:t>
            </a:r>
            <a:r>
              <a:rPr lang="en-US" sz="1800" dirty="0"/>
              <a:t>NET Core Web APIs can run on Windows, Linux, and macOS, making your Web APIs platform-independent.</a:t>
            </a:r>
          </a:p>
          <a:p>
            <a:r>
              <a:rPr lang="en-US" sz="1800" b="1" dirty="0"/>
              <a:t>Performance: </a:t>
            </a:r>
            <a:r>
              <a:rPr lang="en-US" sz="1800" dirty="0"/>
              <a:t>NET Core has been designed to have a smaller memory footprint and improved performance compared to its predecessors. It’s optimized for modern cloud-based applications.</a:t>
            </a:r>
          </a:p>
          <a:p>
            <a:r>
              <a:rPr lang="en-US" sz="1800" b="1" dirty="0"/>
              <a:t>Routing: </a:t>
            </a:r>
            <a:r>
              <a:rPr lang="en-US" sz="1800" dirty="0"/>
              <a:t>Supports attribute routing, which allows the development of -SEO-friendly URLs.</a:t>
            </a:r>
          </a:p>
          <a:p>
            <a:r>
              <a:rPr lang="en-US" sz="1800" b="1" dirty="0"/>
              <a:t>Model Binding and Validation: </a:t>
            </a:r>
            <a:r>
              <a:rPr lang="en-US" sz="1800" dirty="0"/>
              <a:t>Automatically maps data from HTTP requests to action method parameters. Model validation is also automatically performed, and any validation errors can be handled and returned to the client.</a:t>
            </a:r>
          </a:p>
          <a:p>
            <a:r>
              <a:rPr lang="en-US" sz="1800" b="1" dirty="0"/>
              <a:t>Dependency Injection: </a:t>
            </a:r>
            <a:r>
              <a:rPr lang="en-US" sz="1800" dirty="0"/>
              <a:t>Built-in support for dependency injection (DI). This allows for more modular and testable code.</a:t>
            </a:r>
          </a:p>
          <a:p>
            <a:r>
              <a:rPr lang="en-US" sz="1800" b="1" dirty="0"/>
              <a:t>Middleware Support: </a:t>
            </a:r>
            <a:r>
              <a:rPr lang="en-US" sz="1800" dirty="0"/>
              <a:t>NET Core’s middleware pipeline enables you to add components that inspect and process HTTP requests/responses, allowing for custom processing like authentication, logging, encryption decryption, etc.</a:t>
            </a:r>
          </a:p>
          <a:p>
            <a:r>
              <a:rPr lang="en-US" sz="1800" b="1" dirty="0"/>
              <a:t>Content Negotiation and Serialization: </a:t>
            </a:r>
            <a:r>
              <a:rPr lang="en-US" sz="1800" dirty="0"/>
              <a:t>Automatically serializes your data to and from JSON, XML, or any other format, depending on client preferences and server capabilities.</a:t>
            </a:r>
          </a:p>
        </p:txBody>
      </p:sp>
    </p:spTree>
    <p:extLst>
      <p:ext uri="{BB962C8B-B14F-4D97-AF65-F5344CB8AC3E}">
        <p14:creationId xmlns:p14="http://schemas.microsoft.com/office/powerpoint/2010/main" val="23991303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AB69F-90AD-117A-30E0-AF5DBAD8D61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8D995A7-3E00-F14E-81F8-66D44A6B1F5D}"/>
              </a:ext>
            </a:extLst>
          </p:cNvPr>
          <p:cNvSpPr>
            <a:spLocks noGrp="1"/>
          </p:cNvSpPr>
          <p:nvPr>
            <p:ph type="title"/>
          </p:nvPr>
        </p:nvSpPr>
        <p:spPr/>
        <p:txBody>
          <a:bodyPr>
            <a:normAutofit fontScale="90000"/>
          </a:bodyPr>
          <a:lstStyle/>
          <a:p>
            <a:r>
              <a:rPr lang="en-US" dirty="0"/>
              <a:t>Why Use ASP.NET Core for Web API?</a:t>
            </a:r>
          </a:p>
        </p:txBody>
      </p:sp>
      <p:graphicFrame>
        <p:nvGraphicFramePr>
          <p:cNvPr id="2" name="Content Placeholder 1">
            <a:extLst>
              <a:ext uri="{FF2B5EF4-FFF2-40B4-BE49-F238E27FC236}">
                <a16:creationId xmlns:a16="http://schemas.microsoft.com/office/drawing/2014/main" id="{2432DDB8-0D3F-6F86-A4A0-6EAD9646A532}"/>
              </a:ext>
            </a:extLst>
          </p:cNvPr>
          <p:cNvGraphicFramePr>
            <a:graphicFrameLocks noGrp="1"/>
          </p:cNvGraphicFramePr>
          <p:nvPr>
            <p:ph sz="quarter" idx="1"/>
            <p:extLst>
              <p:ext uri="{D42A27DB-BD31-4B8C-83A1-F6EECF244321}">
                <p14:modId xmlns:p14="http://schemas.microsoft.com/office/powerpoint/2010/main" val="3954097301"/>
              </p:ext>
            </p:extLst>
          </p:nvPr>
        </p:nvGraphicFramePr>
        <p:xfrm>
          <a:off x="495301" y="1752600"/>
          <a:ext cx="8153398" cy="4414520"/>
        </p:xfrm>
        <a:graphic>
          <a:graphicData uri="http://schemas.openxmlformats.org/drawingml/2006/table">
            <a:tbl>
              <a:tblPr firstRow="1" bandRow="1">
                <a:tableStyleId>{5C22544A-7EE6-4342-B048-85BDC9FD1C3A}</a:tableStyleId>
              </a:tblPr>
              <a:tblGrid>
                <a:gridCol w="4076699">
                  <a:extLst>
                    <a:ext uri="{9D8B030D-6E8A-4147-A177-3AD203B41FA5}">
                      <a16:colId xmlns:a16="http://schemas.microsoft.com/office/drawing/2014/main" val="3927772313"/>
                    </a:ext>
                  </a:extLst>
                </a:gridCol>
                <a:gridCol w="4076699">
                  <a:extLst>
                    <a:ext uri="{9D8B030D-6E8A-4147-A177-3AD203B41FA5}">
                      <a16:colId xmlns:a16="http://schemas.microsoft.com/office/drawing/2014/main" val="76422409"/>
                    </a:ext>
                  </a:extLst>
                </a:gridCol>
              </a:tblGrid>
              <a:tr h="370840">
                <a:tc>
                  <a:txBody>
                    <a:bodyPr/>
                    <a:lstStyle/>
                    <a:p>
                      <a:pPr>
                        <a:buNone/>
                      </a:pPr>
                      <a:r>
                        <a:rPr lang="en-US" dirty="0"/>
                        <a:t>Feature</a:t>
                      </a:r>
                    </a:p>
                  </a:txBody>
                  <a:tcPr anchor="ctr"/>
                </a:tc>
                <a:tc>
                  <a:txBody>
                    <a:bodyPr/>
                    <a:lstStyle/>
                    <a:p>
                      <a:pPr>
                        <a:buNone/>
                      </a:pPr>
                      <a:r>
                        <a:rPr lang="en-US"/>
                        <a:t>Description</a:t>
                      </a:r>
                    </a:p>
                  </a:txBody>
                  <a:tcPr anchor="ctr"/>
                </a:tc>
                <a:extLst>
                  <a:ext uri="{0D108BD9-81ED-4DB2-BD59-A6C34878D82A}">
                    <a16:rowId xmlns:a16="http://schemas.microsoft.com/office/drawing/2014/main" val="1877567749"/>
                  </a:ext>
                </a:extLst>
              </a:tr>
              <a:tr h="370840">
                <a:tc>
                  <a:txBody>
                    <a:bodyPr/>
                    <a:lstStyle/>
                    <a:p>
                      <a:pPr>
                        <a:buNone/>
                      </a:pPr>
                      <a:r>
                        <a:rPr lang="en-US" b="1"/>
                        <a:t>Cross-platform</a:t>
                      </a:r>
                      <a:endParaRPr lang="en-US"/>
                    </a:p>
                  </a:txBody>
                  <a:tcPr anchor="ctr"/>
                </a:tc>
                <a:tc>
                  <a:txBody>
                    <a:bodyPr/>
                    <a:lstStyle/>
                    <a:p>
                      <a:pPr>
                        <a:buNone/>
                      </a:pPr>
                      <a:r>
                        <a:rPr lang="en-US"/>
                        <a:t>Runs on Windows, Linux, macOS</a:t>
                      </a:r>
                    </a:p>
                  </a:txBody>
                  <a:tcPr anchor="ctr"/>
                </a:tc>
                <a:extLst>
                  <a:ext uri="{0D108BD9-81ED-4DB2-BD59-A6C34878D82A}">
                    <a16:rowId xmlns:a16="http://schemas.microsoft.com/office/drawing/2014/main" val="182333187"/>
                  </a:ext>
                </a:extLst>
              </a:tr>
              <a:tr h="370840">
                <a:tc>
                  <a:txBody>
                    <a:bodyPr/>
                    <a:lstStyle/>
                    <a:p>
                      <a:pPr>
                        <a:buNone/>
                      </a:pPr>
                      <a:r>
                        <a:rPr lang="en-US" b="1"/>
                        <a:t>High Performance</a:t>
                      </a:r>
                      <a:endParaRPr lang="en-US"/>
                    </a:p>
                  </a:txBody>
                  <a:tcPr anchor="ctr"/>
                </a:tc>
                <a:tc>
                  <a:txBody>
                    <a:bodyPr/>
                    <a:lstStyle/>
                    <a:p>
                      <a:pPr>
                        <a:buNone/>
                      </a:pPr>
                      <a:r>
                        <a:rPr lang="en-US"/>
                        <a:t>ASP.NET Core is one of the fastest web frameworks</a:t>
                      </a:r>
                    </a:p>
                  </a:txBody>
                  <a:tcPr anchor="ctr"/>
                </a:tc>
                <a:extLst>
                  <a:ext uri="{0D108BD9-81ED-4DB2-BD59-A6C34878D82A}">
                    <a16:rowId xmlns:a16="http://schemas.microsoft.com/office/drawing/2014/main" val="1308531223"/>
                  </a:ext>
                </a:extLst>
              </a:tr>
              <a:tr h="370840">
                <a:tc>
                  <a:txBody>
                    <a:bodyPr/>
                    <a:lstStyle/>
                    <a:p>
                      <a:pPr>
                        <a:buNone/>
                      </a:pPr>
                      <a:r>
                        <a:rPr lang="en-US" b="1"/>
                        <a:t>Open Source</a:t>
                      </a:r>
                      <a:endParaRPr lang="en-US"/>
                    </a:p>
                  </a:txBody>
                  <a:tcPr anchor="ctr"/>
                </a:tc>
                <a:tc>
                  <a:txBody>
                    <a:bodyPr/>
                    <a:lstStyle/>
                    <a:p>
                      <a:pPr>
                        <a:buNone/>
                      </a:pPr>
                      <a:r>
                        <a:rPr lang="en-US"/>
                        <a:t>Fully open-source on GitHub</a:t>
                      </a:r>
                    </a:p>
                  </a:txBody>
                  <a:tcPr anchor="ctr"/>
                </a:tc>
                <a:extLst>
                  <a:ext uri="{0D108BD9-81ED-4DB2-BD59-A6C34878D82A}">
                    <a16:rowId xmlns:a16="http://schemas.microsoft.com/office/drawing/2014/main" val="3925598087"/>
                  </a:ext>
                </a:extLst>
              </a:tr>
              <a:tr h="370840">
                <a:tc>
                  <a:txBody>
                    <a:bodyPr/>
                    <a:lstStyle/>
                    <a:p>
                      <a:pPr>
                        <a:buNone/>
                      </a:pPr>
                      <a:r>
                        <a:rPr lang="en-US" b="1"/>
                        <a:t>Dependency Injection (DI)</a:t>
                      </a:r>
                      <a:endParaRPr lang="en-US"/>
                    </a:p>
                  </a:txBody>
                  <a:tcPr anchor="ctr"/>
                </a:tc>
                <a:tc>
                  <a:txBody>
                    <a:bodyPr/>
                    <a:lstStyle/>
                    <a:p>
                      <a:pPr>
                        <a:buNone/>
                      </a:pPr>
                      <a:r>
                        <a:rPr lang="en-US"/>
                        <a:t>Built-in — helps write clean and testable code</a:t>
                      </a:r>
                    </a:p>
                  </a:txBody>
                  <a:tcPr anchor="ctr"/>
                </a:tc>
                <a:extLst>
                  <a:ext uri="{0D108BD9-81ED-4DB2-BD59-A6C34878D82A}">
                    <a16:rowId xmlns:a16="http://schemas.microsoft.com/office/drawing/2014/main" val="3233125645"/>
                  </a:ext>
                </a:extLst>
              </a:tr>
              <a:tr h="370840">
                <a:tc>
                  <a:txBody>
                    <a:bodyPr/>
                    <a:lstStyle/>
                    <a:p>
                      <a:pPr>
                        <a:buNone/>
                      </a:pPr>
                      <a:r>
                        <a:rPr lang="en-US" b="1"/>
                        <a:t>Middleware Pipeline</a:t>
                      </a:r>
                      <a:endParaRPr lang="en-US"/>
                    </a:p>
                  </a:txBody>
                  <a:tcPr anchor="ctr"/>
                </a:tc>
                <a:tc>
                  <a:txBody>
                    <a:bodyPr/>
                    <a:lstStyle/>
                    <a:p>
                      <a:pPr>
                        <a:buNone/>
                      </a:pPr>
                      <a:r>
                        <a:rPr lang="en-US"/>
                        <a:t>Fully customizable request handling</a:t>
                      </a:r>
                    </a:p>
                  </a:txBody>
                  <a:tcPr anchor="ctr"/>
                </a:tc>
                <a:extLst>
                  <a:ext uri="{0D108BD9-81ED-4DB2-BD59-A6C34878D82A}">
                    <a16:rowId xmlns:a16="http://schemas.microsoft.com/office/drawing/2014/main" val="752424993"/>
                  </a:ext>
                </a:extLst>
              </a:tr>
              <a:tr h="370840">
                <a:tc>
                  <a:txBody>
                    <a:bodyPr/>
                    <a:lstStyle/>
                    <a:p>
                      <a:pPr>
                        <a:buNone/>
                      </a:pPr>
                      <a:r>
                        <a:rPr lang="en-US" b="1"/>
                        <a:t>Security</a:t>
                      </a:r>
                      <a:endParaRPr lang="en-US"/>
                    </a:p>
                  </a:txBody>
                  <a:tcPr anchor="ctr"/>
                </a:tc>
                <a:tc>
                  <a:txBody>
                    <a:bodyPr/>
                    <a:lstStyle/>
                    <a:p>
                      <a:pPr>
                        <a:buNone/>
                      </a:pPr>
                      <a:r>
                        <a:rPr lang="en-US"/>
                        <a:t>Built-in authentication &amp; authorization (JWT, Identity)</a:t>
                      </a:r>
                    </a:p>
                  </a:txBody>
                  <a:tcPr anchor="ctr"/>
                </a:tc>
                <a:extLst>
                  <a:ext uri="{0D108BD9-81ED-4DB2-BD59-A6C34878D82A}">
                    <a16:rowId xmlns:a16="http://schemas.microsoft.com/office/drawing/2014/main" val="3427955431"/>
                  </a:ext>
                </a:extLst>
              </a:tr>
              <a:tr h="370840">
                <a:tc>
                  <a:txBody>
                    <a:bodyPr/>
                    <a:lstStyle/>
                    <a:p>
                      <a:pPr>
                        <a:buNone/>
                      </a:pPr>
                      <a:r>
                        <a:rPr lang="en-US" b="1"/>
                        <a:t>Swagger Support</a:t>
                      </a:r>
                      <a:endParaRPr lang="en-US"/>
                    </a:p>
                  </a:txBody>
                  <a:tcPr anchor="ctr"/>
                </a:tc>
                <a:tc>
                  <a:txBody>
                    <a:bodyPr/>
                    <a:lstStyle/>
                    <a:p>
                      <a:pPr>
                        <a:buNone/>
                      </a:pPr>
                      <a:r>
                        <a:rPr lang="en-US"/>
                        <a:t>Built-in documentation generation</a:t>
                      </a:r>
                    </a:p>
                  </a:txBody>
                  <a:tcPr anchor="ctr"/>
                </a:tc>
                <a:extLst>
                  <a:ext uri="{0D108BD9-81ED-4DB2-BD59-A6C34878D82A}">
                    <a16:rowId xmlns:a16="http://schemas.microsoft.com/office/drawing/2014/main" val="4163969887"/>
                  </a:ext>
                </a:extLst>
              </a:tr>
              <a:tr h="370840">
                <a:tc>
                  <a:txBody>
                    <a:bodyPr/>
                    <a:lstStyle/>
                    <a:p>
                      <a:pPr>
                        <a:buNone/>
                      </a:pPr>
                      <a:r>
                        <a:rPr lang="en-US" b="1"/>
                        <a:t>Entity Framework Core</a:t>
                      </a:r>
                      <a:endParaRPr lang="en-US"/>
                    </a:p>
                  </a:txBody>
                  <a:tcPr anchor="ctr"/>
                </a:tc>
                <a:tc>
                  <a:txBody>
                    <a:bodyPr/>
                    <a:lstStyle/>
                    <a:p>
                      <a:pPr>
                        <a:buNone/>
                      </a:pPr>
                      <a:r>
                        <a:rPr lang="en-US" dirty="0"/>
                        <a:t>Easy database integration (SQL Server, SQLite, PostgreSQL, etc.)</a:t>
                      </a:r>
                    </a:p>
                  </a:txBody>
                  <a:tcPr anchor="ctr"/>
                </a:tc>
                <a:extLst>
                  <a:ext uri="{0D108BD9-81ED-4DB2-BD59-A6C34878D82A}">
                    <a16:rowId xmlns:a16="http://schemas.microsoft.com/office/drawing/2014/main" val="2044550921"/>
                  </a:ext>
                </a:extLst>
              </a:tr>
            </a:tbl>
          </a:graphicData>
        </a:graphic>
      </p:graphicFrame>
    </p:spTree>
    <p:extLst>
      <p:ext uri="{BB962C8B-B14F-4D97-AF65-F5344CB8AC3E}">
        <p14:creationId xmlns:p14="http://schemas.microsoft.com/office/powerpoint/2010/main" val="32887868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28CB8-3ADB-6346-FF32-2F9F3F75FBD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98BD232-4A47-53D5-5A86-5EE571D6D222}"/>
              </a:ext>
            </a:extLst>
          </p:cNvPr>
          <p:cNvSpPr>
            <a:spLocks noGrp="1"/>
          </p:cNvSpPr>
          <p:nvPr>
            <p:ph type="title"/>
          </p:nvPr>
        </p:nvSpPr>
        <p:spPr/>
        <p:txBody>
          <a:bodyPr/>
          <a:lstStyle/>
          <a:p>
            <a:r>
              <a:rPr lang="en-US" dirty="0"/>
              <a:t>Explanation of Layers:</a:t>
            </a:r>
          </a:p>
        </p:txBody>
      </p:sp>
      <p:graphicFrame>
        <p:nvGraphicFramePr>
          <p:cNvPr id="6" name="Content Placeholder 5">
            <a:extLst>
              <a:ext uri="{FF2B5EF4-FFF2-40B4-BE49-F238E27FC236}">
                <a16:creationId xmlns:a16="http://schemas.microsoft.com/office/drawing/2014/main" id="{31084124-241F-0221-4FE2-55970A3221CA}"/>
              </a:ext>
            </a:extLst>
          </p:cNvPr>
          <p:cNvGraphicFramePr>
            <a:graphicFrameLocks noGrp="1"/>
          </p:cNvGraphicFramePr>
          <p:nvPr>
            <p:ph sz="quarter" idx="1"/>
            <p:extLst>
              <p:ext uri="{D42A27DB-BD31-4B8C-83A1-F6EECF244321}">
                <p14:modId xmlns:p14="http://schemas.microsoft.com/office/powerpoint/2010/main" val="2888383190"/>
              </p:ext>
            </p:extLst>
          </p:nvPr>
        </p:nvGraphicFramePr>
        <p:xfrm>
          <a:off x="612775" y="1600200"/>
          <a:ext cx="8153398" cy="2865120"/>
        </p:xfrm>
        <a:graphic>
          <a:graphicData uri="http://schemas.openxmlformats.org/drawingml/2006/table">
            <a:tbl>
              <a:tblPr firstRow="1" bandRow="1">
                <a:tableStyleId>{5C22544A-7EE6-4342-B048-85BDC9FD1C3A}</a:tableStyleId>
              </a:tblPr>
              <a:tblGrid>
                <a:gridCol w="4076699">
                  <a:extLst>
                    <a:ext uri="{9D8B030D-6E8A-4147-A177-3AD203B41FA5}">
                      <a16:colId xmlns:a16="http://schemas.microsoft.com/office/drawing/2014/main" val="259168810"/>
                    </a:ext>
                  </a:extLst>
                </a:gridCol>
                <a:gridCol w="4076699">
                  <a:extLst>
                    <a:ext uri="{9D8B030D-6E8A-4147-A177-3AD203B41FA5}">
                      <a16:colId xmlns:a16="http://schemas.microsoft.com/office/drawing/2014/main" val="159090910"/>
                    </a:ext>
                  </a:extLst>
                </a:gridCol>
              </a:tblGrid>
              <a:tr h="370840">
                <a:tc>
                  <a:txBody>
                    <a:bodyPr/>
                    <a:lstStyle/>
                    <a:p>
                      <a:pPr>
                        <a:buNone/>
                      </a:pPr>
                      <a:r>
                        <a:rPr lang="en-US" dirty="0"/>
                        <a:t>Layer</a:t>
                      </a:r>
                    </a:p>
                  </a:txBody>
                  <a:tcPr anchor="ctr"/>
                </a:tc>
                <a:tc>
                  <a:txBody>
                    <a:bodyPr/>
                    <a:lstStyle/>
                    <a:p>
                      <a:pPr>
                        <a:buNone/>
                      </a:pPr>
                      <a:r>
                        <a:rPr lang="en-US"/>
                        <a:t>Purpose</a:t>
                      </a:r>
                    </a:p>
                  </a:txBody>
                  <a:tcPr anchor="ctr"/>
                </a:tc>
                <a:extLst>
                  <a:ext uri="{0D108BD9-81ED-4DB2-BD59-A6C34878D82A}">
                    <a16:rowId xmlns:a16="http://schemas.microsoft.com/office/drawing/2014/main" val="1457909081"/>
                  </a:ext>
                </a:extLst>
              </a:tr>
              <a:tr h="370840">
                <a:tc>
                  <a:txBody>
                    <a:bodyPr/>
                    <a:lstStyle/>
                    <a:p>
                      <a:pPr>
                        <a:buNone/>
                      </a:pPr>
                      <a:r>
                        <a:rPr lang="en-US" b="1"/>
                        <a:t>Controller</a:t>
                      </a:r>
                      <a:endParaRPr lang="en-US"/>
                    </a:p>
                  </a:txBody>
                  <a:tcPr anchor="ctr"/>
                </a:tc>
                <a:tc>
                  <a:txBody>
                    <a:bodyPr/>
                    <a:lstStyle/>
                    <a:p>
                      <a:pPr>
                        <a:buNone/>
                      </a:pPr>
                      <a:r>
                        <a:rPr lang="en-US"/>
                        <a:t>Handles HTTP requests/responses</a:t>
                      </a:r>
                    </a:p>
                  </a:txBody>
                  <a:tcPr anchor="ctr"/>
                </a:tc>
                <a:extLst>
                  <a:ext uri="{0D108BD9-81ED-4DB2-BD59-A6C34878D82A}">
                    <a16:rowId xmlns:a16="http://schemas.microsoft.com/office/drawing/2014/main" val="3453595114"/>
                  </a:ext>
                </a:extLst>
              </a:tr>
              <a:tr h="370840">
                <a:tc>
                  <a:txBody>
                    <a:bodyPr/>
                    <a:lstStyle/>
                    <a:p>
                      <a:pPr>
                        <a:buNone/>
                      </a:pPr>
                      <a:r>
                        <a:rPr lang="en-US" b="1"/>
                        <a:t>Service Layer</a:t>
                      </a:r>
                      <a:endParaRPr lang="en-US"/>
                    </a:p>
                  </a:txBody>
                  <a:tcPr anchor="ctr"/>
                </a:tc>
                <a:tc>
                  <a:txBody>
                    <a:bodyPr/>
                    <a:lstStyle/>
                    <a:p>
                      <a:pPr>
                        <a:buNone/>
                      </a:pPr>
                      <a:r>
                        <a:rPr lang="en-US"/>
                        <a:t>Contains business logic</a:t>
                      </a:r>
                    </a:p>
                  </a:txBody>
                  <a:tcPr anchor="ctr"/>
                </a:tc>
                <a:extLst>
                  <a:ext uri="{0D108BD9-81ED-4DB2-BD59-A6C34878D82A}">
                    <a16:rowId xmlns:a16="http://schemas.microsoft.com/office/drawing/2014/main" val="1588373103"/>
                  </a:ext>
                </a:extLst>
              </a:tr>
              <a:tr h="370840">
                <a:tc>
                  <a:txBody>
                    <a:bodyPr/>
                    <a:lstStyle/>
                    <a:p>
                      <a:pPr>
                        <a:buNone/>
                      </a:pPr>
                      <a:r>
                        <a:rPr lang="en-US" b="1"/>
                        <a:t>Repository Layer</a:t>
                      </a:r>
                      <a:endParaRPr lang="en-US"/>
                    </a:p>
                  </a:txBody>
                  <a:tcPr anchor="ctr"/>
                </a:tc>
                <a:tc>
                  <a:txBody>
                    <a:bodyPr/>
                    <a:lstStyle/>
                    <a:p>
                      <a:pPr>
                        <a:buNone/>
                      </a:pPr>
                      <a:r>
                        <a:rPr lang="en-US"/>
                        <a:t>Talks to the database (via EF Core)</a:t>
                      </a:r>
                    </a:p>
                  </a:txBody>
                  <a:tcPr anchor="ctr"/>
                </a:tc>
                <a:extLst>
                  <a:ext uri="{0D108BD9-81ED-4DB2-BD59-A6C34878D82A}">
                    <a16:rowId xmlns:a16="http://schemas.microsoft.com/office/drawing/2014/main" val="3045054564"/>
                  </a:ext>
                </a:extLst>
              </a:tr>
              <a:tr h="370840">
                <a:tc>
                  <a:txBody>
                    <a:bodyPr/>
                    <a:lstStyle/>
                    <a:p>
                      <a:pPr>
                        <a:buNone/>
                      </a:pPr>
                      <a:r>
                        <a:rPr lang="en-US" b="1"/>
                        <a:t>Model</a:t>
                      </a:r>
                      <a:endParaRPr lang="en-US"/>
                    </a:p>
                  </a:txBody>
                  <a:tcPr anchor="ctr"/>
                </a:tc>
                <a:tc>
                  <a:txBody>
                    <a:bodyPr/>
                    <a:lstStyle/>
                    <a:p>
                      <a:pPr>
                        <a:buNone/>
                      </a:pPr>
                      <a:r>
                        <a:rPr lang="en-US"/>
                        <a:t>Represents data (classes/DTOs)</a:t>
                      </a:r>
                    </a:p>
                  </a:txBody>
                  <a:tcPr anchor="ctr"/>
                </a:tc>
                <a:extLst>
                  <a:ext uri="{0D108BD9-81ED-4DB2-BD59-A6C34878D82A}">
                    <a16:rowId xmlns:a16="http://schemas.microsoft.com/office/drawing/2014/main" val="3774629271"/>
                  </a:ext>
                </a:extLst>
              </a:tr>
              <a:tr h="370840">
                <a:tc>
                  <a:txBody>
                    <a:bodyPr/>
                    <a:lstStyle/>
                    <a:p>
                      <a:pPr>
                        <a:buNone/>
                      </a:pPr>
                      <a:r>
                        <a:rPr lang="en-US" b="1"/>
                        <a:t>DbContext</a:t>
                      </a:r>
                      <a:endParaRPr lang="en-US"/>
                    </a:p>
                  </a:txBody>
                  <a:tcPr anchor="ctr"/>
                </a:tc>
                <a:tc>
                  <a:txBody>
                    <a:bodyPr/>
                    <a:lstStyle/>
                    <a:p>
                      <a:pPr>
                        <a:buNone/>
                      </a:pPr>
                      <a:r>
                        <a:rPr lang="en-US"/>
                        <a:t>EF Core’s bridge between code and database</a:t>
                      </a:r>
                    </a:p>
                  </a:txBody>
                  <a:tcPr anchor="ctr"/>
                </a:tc>
                <a:extLst>
                  <a:ext uri="{0D108BD9-81ED-4DB2-BD59-A6C34878D82A}">
                    <a16:rowId xmlns:a16="http://schemas.microsoft.com/office/drawing/2014/main" val="532186462"/>
                  </a:ext>
                </a:extLst>
              </a:tr>
              <a:tr h="370840">
                <a:tc>
                  <a:txBody>
                    <a:bodyPr/>
                    <a:lstStyle/>
                    <a:p>
                      <a:pPr>
                        <a:buNone/>
                      </a:pPr>
                      <a:r>
                        <a:rPr lang="en-US" b="1"/>
                        <a:t>Program.cs</a:t>
                      </a:r>
                      <a:endParaRPr lang="en-US"/>
                    </a:p>
                  </a:txBody>
                  <a:tcPr anchor="ctr"/>
                </a:tc>
                <a:tc>
                  <a:txBody>
                    <a:bodyPr/>
                    <a:lstStyle/>
                    <a:p>
                      <a:pPr>
                        <a:buNone/>
                      </a:pPr>
                      <a:r>
                        <a:rPr lang="en-US" dirty="0"/>
                        <a:t>Entry point — configures app and services</a:t>
                      </a:r>
                    </a:p>
                  </a:txBody>
                  <a:tcPr anchor="ctr"/>
                </a:tc>
                <a:extLst>
                  <a:ext uri="{0D108BD9-81ED-4DB2-BD59-A6C34878D82A}">
                    <a16:rowId xmlns:a16="http://schemas.microsoft.com/office/drawing/2014/main" val="458490780"/>
                  </a:ext>
                </a:extLst>
              </a:tr>
            </a:tbl>
          </a:graphicData>
        </a:graphic>
      </p:graphicFrame>
    </p:spTree>
    <p:extLst>
      <p:ext uri="{BB962C8B-B14F-4D97-AF65-F5344CB8AC3E}">
        <p14:creationId xmlns:p14="http://schemas.microsoft.com/office/powerpoint/2010/main" val="3104311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dirty="0"/>
              <a:t>request/response pipeline in  Asp.net Core Web API</a:t>
            </a:r>
          </a:p>
        </p:txBody>
      </p:sp>
      <p:sp>
        <p:nvSpPr>
          <p:cNvPr id="5" name="Content Placeholder 4"/>
          <p:cNvSpPr>
            <a:spLocks noGrp="1"/>
          </p:cNvSpPr>
          <p:nvPr>
            <p:ph sz="quarter" idx="1"/>
          </p:nvPr>
        </p:nvSpPr>
        <p:spPr/>
        <p:txBody>
          <a:bodyPr>
            <a:normAutofit/>
          </a:bodyPr>
          <a:lstStyle/>
          <a:p>
            <a:endParaRPr lang="en-US" sz="1800" dirty="0">
              <a:solidFill>
                <a:srgbClr val="C00000"/>
              </a:solidFill>
            </a:endParaRPr>
          </a:p>
          <a:p>
            <a:endParaRPr lang="en-US" sz="1800" dirty="0">
              <a:solidFill>
                <a:srgbClr val="C00000"/>
              </a:solidFill>
            </a:endParaRPr>
          </a:p>
          <a:p>
            <a:endParaRPr lang="en-US" sz="1800" dirty="0"/>
          </a:p>
        </p:txBody>
      </p:sp>
      <p:pic>
        <p:nvPicPr>
          <p:cNvPr id="2050" name="Picture 2" descr="http://www.tutorialsteacher.com/Content/images/webapi/webapi-request-pipeline.png"/>
          <p:cNvPicPr>
            <a:picLocks noChangeAspect="1" noChangeArrowheads="1"/>
          </p:cNvPicPr>
          <p:nvPr/>
        </p:nvPicPr>
        <p:blipFill>
          <a:blip r:embed="rId2"/>
          <a:srcRect/>
          <a:stretch>
            <a:fillRect/>
          </a:stretch>
        </p:blipFill>
        <p:spPr bwMode="auto">
          <a:xfrm>
            <a:off x="402514" y="1676400"/>
            <a:ext cx="8368614" cy="2057400"/>
          </a:xfrm>
          <a:prstGeom prst="rect">
            <a:avLst/>
          </a:prstGeom>
          <a:noFill/>
        </p:spPr>
      </p:pic>
      <p:pic>
        <p:nvPicPr>
          <p:cNvPr id="1026" name="Picture 2" descr="The client is represented by a box on the left. It submits a request and receives a response from the application, a box drawn on the right. Within the application box, three boxes represent the controller, the model, and the data access layer. The request comes into the application's controller, and read/write operations occur between the controller and the data access layer. The model is serialized and returned to the client in the response.">
            <a:extLst>
              <a:ext uri="{FF2B5EF4-FFF2-40B4-BE49-F238E27FC236}">
                <a16:creationId xmlns:a16="http://schemas.microsoft.com/office/drawing/2014/main" id="{05B8B463-423A-DD70-D572-6BF71E2DC3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3619500"/>
            <a:ext cx="4191000" cy="3009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60936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2400" dirty="0"/>
              <a:t>How a Request Flows in ASP.NET Core Web API</a:t>
            </a:r>
          </a:p>
        </p:txBody>
      </p:sp>
      <p:sp>
        <p:nvSpPr>
          <p:cNvPr id="5" name="Content Placeholder 4"/>
          <p:cNvSpPr>
            <a:spLocks noGrp="1"/>
          </p:cNvSpPr>
          <p:nvPr>
            <p:ph sz="quarter" idx="1"/>
          </p:nvPr>
        </p:nvSpPr>
        <p:spPr/>
        <p:txBody>
          <a:bodyPr>
            <a:normAutofit/>
          </a:bodyPr>
          <a:lstStyle/>
          <a:p>
            <a:r>
              <a:rPr lang="en-US" sz="1800" b="1" dirty="0"/>
              <a:t>Client</a:t>
            </a:r>
            <a:r>
              <a:rPr lang="en-US" sz="1800" dirty="0"/>
              <a:t> sends HTTP request → (e.g., GET /</a:t>
            </a:r>
            <a:r>
              <a:rPr lang="en-US" sz="1800" dirty="0" err="1"/>
              <a:t>api</a:t>
            </a:r>
            <a:r>
              <a:rPr lang="en-US" sz="1800" dirty="0"/>
              <a:t>/products)</a:t>
            </a:r>
          </a:p>
          <a:p>
            <a:r>
              <a:rPr lang="en-US" sz="1800" dirty="0"/>
              <a:t>The request enters the </a:t>
            </a:r>
            <a:r>
              <a:rPr lang="en-US" sz="1800" b="1" dirty="0"/>
              <a:t>Middleware Pipeline</a:t>
            </a:r>
          </a:p>
          <a:p>
            <a:r>
              <a:rPr lang="en-US" sz="1800" b="1" dirty="0"/>
              <a:t>Routing Middleware</a:t>
            </a:r>
            <a:r>
              <a:rPr lang="en-US" sz="1800" dirty="0"/>
              <a:t> finds the correct controller and action</a:t>
            </a:r>
          </a:p>
          <a:p>
            <a:r>
              <a:rPr lang="en-US" sz="1800" b="1" dirty="0"/>
              <a:t>Controller Action</a:t>
            </a:r>
            <a:r>
              <a:rPr lang="en-US" sz="1800" dirty="0"/>
              <a:t> is executed</a:t>
            </a:r>
          </a:p>
          <a:p>
            <a:r>
              <a:rPr lang="en-US" sz="1800" dirty="0"/>
              <a:t>Controller calls </a:t>
            </a:r>
            <a:r>
              <a:rPr lang="en-US" sz="1800" b="1" dirty="0"/>
              <a:t>Service Layer</a:t>
            </a:r>
            <a:r>
              <a:rPr lang="en-US" sz="1800" dirty="0"/>
              <a:t> (if separated)</a:t>
            </a:r>
          </a:p>
          <a:p>
            <a:r>
              <a:rPr lang="en-US" sz="1800" b="1" dirty="0"/>
              <a:t>Service Layer</a:t>
            </a:r>
            <a:r>
              <a:rPr lang="en-US" sz="1800" dirty="0"/>
              <a:t> calls </a:t>
            </a:r>
            <a:r>
              <a:rPr lang="en-US" sz="1800" b="1" dirty="0"/>
              <a:t>Repository</a:t>
            </a:r>
            <a:r>
              <a:rPr lang="en-US" sz="1800" dirty="0"/>
              <a:t> (data access)</a:t>
            </a:r>
          </a:p>
          <a:p>
            <a:r>
              <a:rPr lang="en-US" sz="1800" b="1" dirty="0"/>
              <a:t>Repository</a:t>
            </a:r>
            <a:r>
              <a:rPr lang="en-US" sz="1800" dirty="0"/>
              <a:t> interacts with </a:t>
            </a:r>
            <a:r>
              <a:rPr lang="en-US" sz="1800" b="1" dirty="0"/>
              <a:t>Database</a:t>
            </a:r>
          </a:p>
          <a:p>
            <a:r>
              <a:rPr lang="en-US" sz="1800" dirty="0"/>
              <a:t>Data flows back → Repository → Service → Controller → </a:t>
            </a:r>
            <a:r>
              <a:rPr lang="en-US" sz="1800" b="1" dirty="0"/>
              <a:t>Client (as JSON)</a:t>
            </a:r>
            <a:endParaRPr lang="en-US" sz="1800" dirty="0">
              <a:solidFill>
                <a:srgbClr val="C00000"/>
              </a:solidFill>
            </a:endParaRPr>
          </a:p>
          <a:p>
            <a:endParaRPr lang="en-US" sz="1400" dirty="0">
              <a:solidFill>
                <a:srgbClr val="C00000"/>
              </a:solidFill>
            </a:endParaRPr>
          </a:p>
          <a:p>
            <a:endParaRPr lang="en-US" sz="1400" dirty="0">
              <a:solidFill>
                <a:srgbClr val="C00000"/>
              </a:solidFill>
            </a:endParaRPr>
          </a:p>
          <a:p>
            <a:endParaRPr lang="en-US" sz="1400" dirty="0"/>
          </a:p>
        </p:txBody>
      </p:sp>
    </p:spTree>
    <p:extLst>
      <p:ext uri="{BB962C8B-B14F-4D97-AF65-F5344CB8AC3E}">
        <p14:creationId xmlns:p14="http://schemas.microsoft.com/office/powerpoint/2010/main" val="1296907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AA1A4-DBD1-4AA3-966F-14D9F87388B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8D0B612-F1D0-CA07-B8F7-7AAC6A93E3FC}"/>
              </a:ext>
            </a:extLst>
          </p:cNvPr>
          <p:cNvSpPr>
            <a:spLocks noGrp="1"/>
          </p:cNvSpPr>
          <p:nvPr>
            <p:ph type="title"/>
          </p:nvPr>
        </p:nvSpPr>
        <p:spPr/>
        <p:txBody>
          <a:bodyPr>
            <a:normAutofit/>
          </a:bodyPr>
          <a:lstStyle/>
          <a:p>
            <a:r>
              <a:rPr lang="en-US" sz="2400" dirty="0"/>
              <a:t> Asp.net Core API Useful Features</a:t>
            </a:r>
          </a:p>
        </p:txBody>
      </p:sp>
      <p:sp>
        <p:nvSpPr>
          <p:cNvPr id="5" name="Content Placeholder 4">
            <a:extLst>
              <a:ext uri="{FF2B5EF4-FFF2-40B4-BE49-F238E27FC236}">
                <a16:creationId xmlns:a16="http://schemas.microsoft.com/office/drawing/2014/main" id="{BAF1DF2C-5A74-FE69-5BBF-9A04479BF694}"/>
              </a:ext>
            </a:extLst>
          </p:cNvPr>
          <p:cNvSpPr>
            <a:spLocks noGrp="1"/>
          </p:cNvSpPr>
          <p:nvPr>
            <p:ph sz="quarter" idx="1"/>
          </p:nvPr>
        </p:nvSpPr>
        <p:spPr/>
        <p:txBody>
          <a:bodyPr>
            <a:normAutofit/>
          </a:bodyPr>
          <a:lstStyle/>
          <a:p>
            <a:endParaRPr lang="en-US" sz="1400" dirty="0">
              <a:solidFill>
                <a:srgbClr val="C00000"/>
              </a:solidFill>
            </a:endParaRPr>
          </a:p>
          <a:p>
            <a:endParaRPr lang="en-US" sz="1400" dirty="0">
              <a:solidFill>
                <a:srgbClr val="C00000"/>
              </a:solidFill>
            </a:endParaRPr>
          </a:p>
          <a:p>
            <a:endParaRPr lang="en-US" sz="1400" dirty="0"/>
          </a:p>
        </p:txBody>
      </p:sp>
      <p:graphicFrame>
        <p:nvGraphicFramePr>
          <p:cNvPr id="2" name="Table 1">
            <a:extLst>
              <a:ext uri="{FF2B5EF4-FFF2-40B4-BE49-F238E27FC236}">
                <a16:creationId xmlns:a16="http://schemas.microsoft.com/office/drawing/2014/main" id="{B1EE8541-88F4-F53E-7B94-CD25444792DF}"/>
              </a:ext>
            </a:extLst>
          </p:cNvPr>
          <p:cNvGraphicFramePr>
            <a:graphicFrameLocks noGrp="1"/>
          </p:cNvGraphicFramePr>
          <p:nvPr>
            <p:extLst>
              <p:ext uri="{D42A27DB-BD31-4B8C-83A1-F6EECF244321}">
                <p14:modId xmlns:p14="http://schemas.microsoft.com/office/powerpoint/2010/main" val="2243553545"/>
              </p:ext>
            </p:extLst>
          </p:nvPr>
        </p:nvGraphicFramePr>
        <p:xfrm>
          <a:off x="408432" y="1681480"/>
          <a:ext cx="8232648" cy="4414520"/>
        </p:xfrm>
        <a:graphic>
          <a:graphicData uri="http://schemas.openxmlformats.org/drawingml/2006/table">
            <a:tbl>
              <a:tblPr firstRow="1" bandRow="1">
                <a:tableStyleId>{5C22544A-7EE6-4342-B048-85BDC9FD1C3A}</a:tableStyleId>
              </a:tblPr>
              <a:tblGrid>
                <a:gridCol w="4116324">
                  <a:extLst>
                    <a:ext uri="{9D8B030D-6E8A-4147-A177-3AD203B41FA5}">
                      <a16:colId xmlns:a16="http://schemas.microsoft.com/office/drawing/2014/main" val="1069132024"/>
                    </a:ext>
                  </a:extLst>
                </a:gridCol>
                <a:gridCol w="4116324">
                  <a:extLst>
                    <a:ext uri="{9D8B030D-6E8A-4147-A177-3AD203B41FA5}">
                      <a16:colId xmlns:a16="http://schemas.microsoft.com/office/drawing/2014/main" val="1776965156"/>
                    </a:ext>
                  </a:extLst>
                </a:gridCol>
              </a:tblGrid>
              <a:tr h="370840">
                <a:tc>
                  <a:txBody>
                    <a:bodyPr/>
                    <a:lstStyle/>
                    <a:p>
                      <a:pPr>
                        <a:buNone/>
                      </a:pPr>
                      <a:r>
                        <a:rPr lang="en-US" dirty="0"/>
                        <a:t>Feature</a:t>
                      </a:r>
                    </a:p>
                  </a:txBody>
                  <a:tcPr anchor="ctr"/>
                </a:tc>
                <a:tc>
                  <a:txBody>
                    <a:bodyPr/>
                    <a:lstStyle/>
                    <a:p>
                      <a:pPr>
                        <a:buNone/>
                      </a:pPr>
                      <a:r>
                        <a:rPr lang="en-US"/>
                        <a:t>Description</a:t>
                      </a:r>
                    </a:p>
                  </a:txBody>
                  <a:tcPr anchor="ctr"/>
                </a:tc>
                <a:extLst>
                  <a:ext uri="{0D108BD9-81ED-4DB2-BD59-A6C34878D82A}">
                    <a16:rowId xmlns:a16="http://schemas.microsoft.com/office/drawing/2014/main" val="2493043169"/>
                  </a:ext>
                </a:extLst>
              </a:tr>
              <a:tr h="370840">
                <a:tc>
                  <a:txBody>
                    <a:bodyPr/>
                    <a:lstStyle/>
                    <a:p>
                      <a:pPr>
                        <a:buNone/>
                      </a:pPr>
                      <a:r>
                        <a:rPr lang="en-US" b="1"/>
                        <a:t>Model Binding</a:t>
                      </a:r>
                      <a:endParaRPr lang="en-US"/>
                    </a:p>
                  </a:txBody>
                  <a:tcPr anchor="ctr"/>
                </a:tc>
                <a:tc>
                  <a:txBody>
                    <a:bodyPr/>
                    <a:lstStyle/>
                    <a:p>
                      <a:pPr>
                        <a:buNone/>
                      </a:pPr>
                      <a:r>
                        <a:rPr lang="en-US"/>
                        <a:t>Automatically maps JSON → C# object</a:t>
                      </a:r>
                    </a:p>
                  </a:txBody>
                  <a:tcPr anchor="ctr"/>
                </a:tc>
                <a:extLst>
                  <a:ext uri="{0D108BD9-81ED-4DB2-BD59-A6C34878D82A}">
                    <a16:rowId xmlns:a16="http://schemas.microsoft.com/office/drawing/2014/main" val="911102302"/>
                  </a:ext>
                </a:extLst>
              </a:tr>
              <a:tr h="370840">
                <a:tc>
                  <a:txBody>
                    <a:bodyPr/>
                    <a:lstStyle/>
                    <a:p>
                      <a:pPr>
                        <a:buNone/>
                      </a:pPr>
                      <a:r>
                        <a:rPr lang="en-US" b="1"/>
                        <a:t>Model Validation</a:t>
                      </a:r>
                      <a:endParaRPr lang="en-US"/>
                    </a:p>
                  </a:txBody>
                  <a:tcPr anchor="ctr"/>
                </a:tc>
                <a:tc>
                  <a:txBody>
                    <a:bodyPr/>
                    <a:lstStyle/>
                    <a:p>
                      <a:pPr>
                        <a:buNone/>
                      </a:pPr>
                      <a:r>
                        <a:rPr lang="en-US"/>
                        <a:t>Add </a:t>
                      </a:r>
                      <a:r>
                        <a:rPr lang="en-US">
                          <a:latin typeface="Courier New" panose="02070309020205020404" pitchFamily="49" charset="0"/>
                        </a:rPr>
                        <a:t>[Required]</a:t>
                      </a:r>
                      <a:r>
                        <a:rPr lang="en-US"/>
                        <a:t>, </a:t>
                      </a:r>
                      <a:r>
                        <a:rPr lang="en-US">
                          <a:latin typeface="Courier New" panose="02070309020205020404" pitchFamily="49" charset="0"/>
                        </a:rPr>
                        <a:t>[Range]</a:t>
                      </a:r>
                      <a:r>
                        <a:rPr lang="en-US"/>
                        <a:t> attributes for validation</a:t>
                      </a:r>
                    </a:p>
                  </a:txBody>
                  <a:tcPr anchor="ctr"/>
                </a:tc>
                <a:extLst>
                  <a:ext uri="{0D108BD9-81ED-4DB2-BD59-A6C34878D82A}">
                    <a16:rowId xmlns:a16="http://schemas.microsoft.com/office/drawing/2014/main" val="251628266"/>
                  </a:ext>
                </a:extLst>
              </a:tr>
              <a:tr h="370840">
                <a:tc>
                  <a:txBody>
                    <a:bodyPr/>
                    <a:lstStyle/>
                    <a:p>
                      <a:pPr>
                        <a:buNone/>
                      </a:pPr>
                      <a:r>
                        <a:rPr lang="en-US" b="1"/>
                        <a:t>Dependency Injection (DI)</a:t>
                      </a:r>
                      <a:endParaRPr lang="en-US"/>
                    </a:p>
                  </a:txBody>
                  <a:tcPr anchor="ctr"/>
                </a:tc>
                <a:tc>
                  <a:txBody>
                    <a:bodyPr/>
                    <a:lstStyle/>
                    <a:p>
                      <a:pPr>
                        <a:buNone/>
                      </a:pPr>
                      <a:r>
                        <a:rPr lang="en-US"/>
                        <a:t>Easily inject services like </a:t>
                      </a:r>
                      <a:r>
                        <a:rPr lang="en-US">
                          <a:latin typeface="Courier New" panose="02070309020205020404" pitchFamily="49" charset="0"/>
                        </a:rPr>
                        <a:t>IProductService</a:t>
                      </a:r>
                      <a:endParaRPr lang="en-US"/>
                    </a:p>
                  </a:txBody>
                  <a:tcPr anchor="ctr"/>
                </a:tc>
                <a:extLst>
                  <a:ext uri="{0D108BD9-81ED-4DB2-BD59-A6C34878D82A}">
                    <a16:rowId xmlns:a16="http://schemas.microsoft.com/office/drawing/2014/main" val="2208759871"/>
                  </a:ext>
                </a:extLst>
              </a:tr>
              <a:tr h="370840">
                <a:tc>
                  <a:txBody>
                    <a:bodyPr/>
                    <a:lstStyle/>
                    <a:p>
                      <a:pPr>
                        <a:buNone/>
                      </a:pPr>
                      <a:r>
                        <a:rPr lang="en-US" b="1"/>
                        <a:t>Swagger UI</a:t>
                      </a:r>
                      <a:endParaRPr lang="en-US"/>
                    </a:p>
                  </a:txBody>
                  <a:tcPr anchor="ctr"/>
                </a:tc>
                <a:tc>
                  <a:txBody>
                    <a:bodyPr/>
                    <a:lstStyle/>
                    <a:p>
                      <a:pPr>
                        <a:buNone/>
                      </a:pPr>
                      <a:r>
                        <a:rPr lang="en-US"/>
                        <a:t>Auto-generated API documentation (easy testing)</a:t>
                      </a:r>
                    </a:p>
                  </a:txBody>
                  <a:tcPr anchor="ctr"/>
                </a:tc>
                <a:extLst>
                  <a:ext uri="{0D108BD9-81ED-4DB2-BD59-A6C34878D82A}">
                    <a16:rowId xmlns:a16="http://schemas.microsoft.com/office/drawing/2014/main" val="3431958702"/>
                  </a:ext>
                </a:extLst>
              </a:tr>
              <a:tr h="370840">
                <a:tc>
                  <a:txBody>
                    <a:bodyPr/>
                    <a:lstStyle/>
                    <a:p>
                      <a:pPr>
                        <a:buNone/>
                      </a:pPr>
                      <a:r>
                        <a:rPr lang="en-US" b="1"/>
                        <a:t>Filters</a:t>
                      </a:r>
                      <a:endParaRPr lang="en-US"/>
                    </a:p>
                  </a:txBody>
                  <a:tcPr anchor="ctr"/>
                </a:tc>
                <a:tc>
                  <a:txBody>
                    <a:bodyPr/>
                    <a:lstStyle/>
                    <a:p>
                      <a:pPr>
                        <a:buNone/>
                      </a:pPr>
                      <a:r>
                        <a:rPr lang="en-US"/>
                        <a:t>Custom logic before/after actions (e.g., logging, validation)</a:t>
                      </a:r>
                    </a:p>
                  </a:txBody>
                  <a:tcPr anchor="ctr"/>
                </a:tc>
                <a:extLst>
                  <a:ext uri="{0D108BD9-81ED-4DB2-BD59-A6C34878D82A}">
                    <a16:rowId xmlns:a16="http://schemas.microsoft.com/office/drawing/2014/main" val="1700858444"/>
                  </a:ext>
                </a:extLst>
              </a:tr>
              <a:tr h="370840">
                <a:tc>
                  <a:txBody>
                    <a:bodyPr/>
                    <a:lstStyle/>
                    <a:p>
                      <a:pPr>
                        <a:buNone/>
                      </a:pPr>
                      <a:r>
                        <a:rPr lang="en-US" b="1"/>
                        <a:t>Middleware</a:t>
                      </a:r>
                      <a:endParaRPr lang="en-US"/>
                    </a:p>
                  </a:txBody>
                  <a:tcPr anchor="ctr"/>
                </a:tc>
                <a:tc>
                  <a:txBody>
                    <a:bodyPr/>
                    <a:lstStyle/>
                    <a:p>
                      <a:pPr>
                        <a:buNone/>
                      </a:pPr>
                      <a:r>
                        <a:rPr lang="en-US"/>
                        <a:t>Global request pipeline customization</a:t>
                      </a:r>
                    </a:p>
                  </a:txBody>
                  <a:tcPr anchor="ctr"/>
                </a:tc>
                <a:extLst>
                  <a:ext uri="{0D108BD9-81ED-4DB2-BD59-A6C34878D82A}">
                    <a16:rowId xmlns:a16="http://schemas.microsoft.com/office/drawing/2014/main" val="1538496794"/>
                  </a:ext>
                </a:extLst>
              </a:tr>
              <a:tr h="370840">
                <a:tc>
                  <a:txBody>
                    <a:bodyPr/>
                    <a:lstStyle/>
                    <a:p>
                      <a:pPr>
                        <a:buNone/>
                      </a:pPr>
                      <a:r>
                        <a:rPr lang="en-US" b="1"/>
                        <a:t>Authentication</a:t>
                      </a:r>
                      <a:endParaRPr lang="en-US"/>
                    </a:p>
                  </a:txBody>
                  <a:tcPr anchor="ctr"/>
                </a:tc>
                <a:tc>
                  <a:txBody>
                    <a:bodyPr/>
                    <a:lstStyle/>
                    <a:p>
                      <a:pPr>
                        <a:buNone/>
                      </a:pPr>
                      <a:r>
                        <a:rPr lang="en-US"/>
                        <a:t>Supports JWT, OAuth, Identity</a:t>
                      </a:r>
                    </a:p>
                  </a:txBody>
                  <a:tcPr anchor="ctr"/>
                </a:tc>
                <a:extLst>
                  <a:ext uri="{0D108BD9-81ED-4DB2-BD59-A6C34878D82A}">
                    <a16:rowId xmlns:a16="http://schemas.microsoft.com/office/drawing/2014/main" val="2235080185"/>
                  </a:ext>
                </a:extLst>
              </a:tr>
              <a:tr h="370840">
                <a:tc>
                  <a:txBody>
                    <a:bodyPr/>
                    <a:lstStyle/>
                    <a:p>
                      <a:pPr>
                        <a:buNone/>
                      </a:pPr>
                      <a:r>
                        <a:rPr lang="en-US" b="1"/>
                        <a:t>Versioning</a:t>
                      </a:r>
                      <a:endParaRPr lang="en-US"/>
                    </a:p>
                  </a:txBody>
                  <a:tcPr anchor="ctr"/>
                </a:tc>
                <a:tc>
                  <a:txBody>
                    <a:bodyPr/>
                    <a:lstStyle/>
                    <a:p>
                      <a:pPr>
                        <a:buNone/>
                      </a:pPr>
                      <a:r>
                        <a:rPr lang="en-US" dirty="0"/>
                        <a:t>Manage multiple API versions easily</a:t>
                      </a:r>
                    </a:p>
                  </a:txBody>
                  <a:tcPr anchor="ctr"/>
                </a:tc>
                <a:extLst>
                  <a:ext uri="{0D108BD9-81ED-4DB2-BD59-A6C34878D82A}">
                    <a16:rowId xmlns:a16="http://schemas.microsoft.com/office/drawing/2014/main" val="273729168"/>
                  </a:ext>
                </a:extLst>
              </a:tr>
            </a:tbl>
          </a:graphicData>
        </a:graphic>
      </p:graphicFrame>
    </p:spTree>
    <p:extLst>
      <p:ext uri="{BB962C8B-B14F-4D97-AF65-F5344CB8AC3E}">
        <p14:creationId xmlns:p14="http://schemas.microsoft.com/office/powerpoint/2010/main" val="1065080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2B5B9-139F-31B7-6C9C-E09CB288D00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794DC52-82E4-F45C-50D8-DF0219E7A2CC}"/>
              </a:ext>
            </a:extLst>
          </p:cNvPr>
          <p:cNvSpPr>
            <a:spLocks noGrp="1"/>
          </p:cNvSpPr>
          <p:nvPr>
            <p:ph type="title"/>
          </p:nvPr>
        </p:nvSpPr>
        <p:spPr/>
        <p:txBody>
          <a:bodyPr>
            <a:normAutofit/>
          </a:bodyPr>
          <a:lstStyle/>
          <a:p>
            <a:r>
              <a:rPr lang="en-US" sz="2400" dirty="0"/>
              <a:t>HTTP Verbs in ASP.NET Core Web API</a:t>
            </a:r>
          </a:p>
        </p:txBody>
      </p:sp>
      <p:sp>
        <p:nvSpPr>
          <p:cNvPr id="5" name="Content Placeholder 4">
            <a:extLst>
              <a:ext uri="{FF2B5EF4-FFF2-40B4-BE49-F238E27FC236}">
                <a16:creationId xmlns:a16="http://schemas.microsoft.com/office/drawing/2014/main" id="{DF463130-D127-C80B-768F-A1892A6366D2}"/>
              </a:ext>
            </a:extLst>
          </p:cNvPr>
          <p:cNvSpPr>
            <a:spLocks noGrp="1"/>
          </p:cNvSpPr>
          <p:nvPr>
            <p:ph sz="quarter" idx="1"/>
          </p:nvPr>
        </p:nvSpPr>
        <p:spPr/>
        <p:txBody>
          <a:bodyPr>
            <a:normAutofit/>
          </a:bodyPr>
          <a:lstStyle/>
          <a:p>
            <a:r>
              <a:rPr lang="en-US" sz="1600" dirty="0">
                <a:latin typeface="Open Sans" panose="020B0606030504020204" pitchFamily="34" charset="0"/>
                <a:ea typeface="Open Sans" panose="020B0606030504020204" pitchFamily="34" charset="0"/>
                <a:cs typeface="Open Sans" panose="020B0606030504020204" pitchFamily="34" charset="0"/>
              </a:rPr>
              <a:t>One of the key features of HTTP is the use of verbs (also known as methods or actions) to perform specific operations on resources.</a:t>
            </a:r>
          </a:p>
          <a:p>
            <a:r>
              <a:rPr lang="en-US" sz="1600" dirty="0">
                <a:latin typeface="Open Sans" panose="020B0606030504020204" pitchFamily="34" charset="0"/>
                <a:ea typeface="Open Sans" panose="020B0606030504020204" pitchFamily="34" charset="0"/>
                <a:cs typeface="Open Sans" panose="020B0606030504020204" pitchFamily="34" charset="0"/>
              </a:rPr>
              <a:t>In the context of ASP.NET Web API, these HTTP verbs are used to create, read, update, and delete data. </a:t>
            </a:r>
          </a:p>
          <a:p>
            <a:r>
              <a:rPr lang="en-US" sz="1600" dirty="0">
                <a:latin typeface="Open Sans" panose="020B0606030504020204" pitchFamily="34" charset="0"/>
                <a:ea typeface="Open Sans" panose="020B0606030504020204" pitchFamily="34" charset="0"/>
                <a:cs typeface="Open Sans" panose="020B0606030504020204" pitchFamily="34" charset="0"/>
              </a:rPr>
              <a:t>The following are the five most commonly used HTTP verbs in the ASP.NET Core Web API</a:t>
            </a:r>
          </a:p>
          <a:p>
            <a:r>
              <a:rPr lang="en-US" sz="1600" dirty="0">
                <a:latin typeface="Open Sans" panose="020B0606030504020204" pitchFamily="34" charset="0"/>
                <a:ea typeface="Open Sans" panose="020B0606030504020204" pitchFamily="34" charset="0"/>
                <a:cs typeface="Open Sans" panose="020B0606030504020204" pitchFamily="34" charset="0"/>
              </a:rPr>
              <a:t>Get</a:t>
            </a:r>
          </a:p>
          <a:p>
            <a:r>
              <a:rPr lang="en-US" sz="1600" dirty="0">
                <a:latin typeface="Open Sans" panose="020B0606030504020204" pitchFamily="34" charset="0"/>
                <a:ea typeface="Open Sans" panose="020B0606030504020204" pitchFamily="34" charset="0"/>
                <a:cs typeface="Open Sans" panose="020B0606030504020204" pitchFamily="34" charset="0"/>
              </a:rPr>
              <a:t>Post</a:t>
            </a:r>
          </a:p>
          <a:p>
            <a:r>
              <a:rPr lang="en-US" sz="1600" dirty="0">
                <a:latin typeface="Open Sans" panose="020B0606030504020204" pitchFamily="34" charset="0"/>
                <a:ea typeface="Open Sans" panose="020B0606030504020204" pitchFamily="34" charset="0"/>
                <a:cs typeface="Open Sans" panose="020B0606030504020204" pitchFamily="34" charset="0"/>
              </a:rPr>
              <a:t>Put</a:t>
            </a:r>
          </a:p>
          <a:p>
            <a:r>
              <a:rPr lang="en-US" sz="1600" dirty="0">
                <a:latin typeface="Open Sans" panose="020B0606030504020204" pitchFamily="34" charset="0"/>
                <a:ea typeface="Open Sans" panose="020B0606030504020204" pitchFamily="34" charset="0"/>
                <a:cs typeface="Open Sans" panose="020B0606030504020204" pitchFamily="34" charset="0"/>
              </a:rPr>
              <a:t>Delete</a:t>
            </a:r>
          </a:p>
          <a:p>
            <a:endParaRPr lang="en-US" sz="1400" dirty="0">
              <a:solidFill>
                <a:srgbClr val="C00000"/>
              </a:solidFill>
            </a:endParaRPr>
          </a:p>
          <a:p>
            <a:endParaRPr lang="en-US" sz="1400" dirty="0">
              <a:solidFill>
                <a:srgbClr val="C00000"/>
              </a:solidFill>
            </a:endParaRPr>
          </a:p>
          <a:p>
            <a:endParaRPr lang="en-US" sz="1400" dirty="0">
              <a:solidFill>
                <a:srgbClr val="C00000"/>
              </a:solidFill>
            </a:endParaRPr>
          </a:p>
          <a:p>
            <a:endParaRPr lang="en-US" sz="1400" dirty="0"/>
          </a:p>
        </p:txBody>
      </p:sp>
      <p:pic>
        <p:nvPicPr>
          <p:cNvPr id="6146" name="Picture 2">
            <a:extLst>
              <a:ext uri="{FF2B5EF4-FFF2-40B4-BE49-F238E27FC236}">
                <a16:creationId xmlns:a16="http://schemas.microsoft.com/office/drawing/2014/main" id="{07208632-2D0D-6DB9-B7C4-FBF3BF8A67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2800" y="3352800"/>
            <a:ext cx="4452633"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93310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2400" dirty="0"/>
              <a:t>HTTP Verbs in ASP.NET Core Web API</a:t>
            </a:r>
          </a:p>
        </p:txBody>
      </p:sp>
      <p:sp>
        <p:nvSpPr>
          <p:cNvPr id="5" name="Content Placeholder 4"/>
          <p:cNvSpPr>
            <a:spLocks noGrp="1"/>
          </p:cNvSpPr>
          <p:nvPr>
            <p:ph sz="quarter" idx="1"/>
          </p:nvPr>
        </p:nvSpPr>
        <p:spPr/>
        <p:txBody>
          <a:bodyPr>
            <a:normAutofit/>
          </a:bodyPr>
          <a:lstStyle/>
          <a:p>
            <a:endParaRPr lang="en-US" sz="1400" dirty="0">
              <a:solidFill>
                <a:srgbClr val="C00000"/>
              </a:solidFill>
            </a:endParaRPr>
          </a:p>
          <a:p>
            <a:endParaRPr lang="en-US" sz="1400" dirty="0">
              <a:solidFill>
                <a:srgbClr val="C00000"/>
              </a:solidFill>
            </a:endParaRPr>
          </a:p>
          <a:p>
            <a:endParaRPr lang="en-US" sz="1400" dirty="0">
              <a:solidFill>
                <a:srgbClr val="C00000"/>
              </a:solidFill>
            </a:endParaRPr>
          </a:p>
          <a:p>
            <a:endParaRPr lang="en-US" sz="1400" dirty="0"/>
          </a:p>
        </p:txBody>
      </p:sp>
      <p:pic>
        <p:nvPicPr>
          <p:cNvPr id="3" name="Picture 2">
            <a:extLst>
              <a:ext uri="{FF2B5EF4-FFF2-40B4-BE49-F238E27FC236}">
                <a16:creationId xmlns:a16="http://schemas.microsoft.com/office/drawing/2014/main" id="{0D8EB8C2-F345-61CA-0F90-45714ACE4F48}"/>
              </a:ext>
            </a:extLst>
          </p:cNvPr>
          <p:cNvPicPr>
            <a:picLocks noChangeAspect="1"/>
          </p:cNvPicPr>
          <p:nvPr/>
        </p:nvPicPr>
        <p:blipFill>
          <a:blip r:embed="rId2"/>
          <a:stretch>
            <a:fillRect/>
          </a:stretch>
        </p:blipFill>
        <p:spPr>
          <a:xfrm>
            <a:off x="914400" y="1828800"/>
            <a:ext cx="7922526" cy="4114800"/>
          </a:xfrm>
          <a:prstGeom prst="rect">
            <a:avLst/>
          </a:prstGeom>
        </p:spPr>
      </p:pic>
    </p:spTree>
    <p:extLst>
      <p:ext uri="{BB962C8B-B14F-4D97-AF65-F5344CB8AC3E}">
        <p14:creationId xmlns:p14="http://schemas.microsoft.com/office/powerpoint/2010/main" val="3677840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2400" dirty="0"/>
              <a:t>HTTP GET</a:t>
            </a:r>
          </a:p>
        </p:txBody>
      </p:sp>
      <p:sp>
        <p:nvSpPr>
          <p:cNvPr id="5" name="Content Placeholder 4"/>
          <p:cNvSpPr>
            <a:spLocks noGrp="1"/>
          </p:cNvSpPr>
          <p:nvPr>
            <p:ph sz="quarter" idx="1"/>
          </p:nvPr>
        </p:nvSpPr>
        <p:spPr/>
        <p:txBody>
          <a:bodyPr>
            <a:normAutofit/>
          </a:bodyPr>
          <a:lstStyle/>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This verb is used to retrieve data from the server. </a:t>
            </a:r>
            <a:endParaRPr lang="en-US" sz="16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 It is a read-only operation that does not change any data on the server.</a:t>
            </a:r>
          </a:p>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 A GET request is used to retrieve a representation of a resource from the server.</a:t>
            </a:r>
          </a:p>
          <a:p>
            <a:r>
              <a:rPr lang="en-US" sz="1600" dirty="0">
                <a:solidFill>
                  <a:srgbClr val="C00000"/>
                </a:solidFill>
                <a:latin typeface="Open Sans" panose="020B0606030504020204" pitchFamily="34" charset="0"/>
                <a:ea typeface="Open Sans" panose="020B0606030504020204" pitchFamily="34" charset="0"/>
                <a:cs typeface="Open Sans" panose="020B0606030504020204" pitchFamily="34" charset="0"/>
              </a:rPr>
              <a:t>Example: </a:t>
            </a:r>
          </a:p>
          <a:p>
            <a:r>
              <a:rPr lang="en-US" sz="1600" dirty="0">
                <a:solidFill>
                  <a:srgbClr val="C00000"/>
                </a:solidFill>
                <a:latin typeface="Open Sans" panose="020B0606030504020204" pitchFamily="34" charset="0"/>
                <a:ea typeface="Open Sans" panose="020B0606030504020204" pitchFamily="34" charset="0"/>
                <a:cs typeface="Open Sans" panose="020B0606030504020204" pitchFamily="34" charset="0"/>
              </a:rPr>
              <a:t>The following endpoint retrieves a list of all employees.</a:t>
            </a:r>
          </a:p>
          <a:p>
            <a:r>
              <a:rPr lang="en-US" sz="1600" dirty="0">
                <a:solidFill>
                  <a:srgbClr val="C00000"/>
                </a:solidFill>
                <a:latin typeface="Open Sans" panose="020B0606030504020204" pitchFamily="34" charset="0"/>
                <a:ea typeface="Open Sans" panose="020B0606030504020204" pitchFamily="34" charset="0"/>
                <a:cs typeface="Open Sans" panose="020B0606030504020204" pitchFamily="34" charset="0"/>
              </a:rPr>
              <a:t>GET /</a:t>
            </a:r>
            <a:r>
              <a:rPr lang="en-US" sz="1600" dirty="0" err="1">
                <a:solidFill>
                  <a:srgbClr val="C00000"/>
                </a:solidFill>
                <a:latin typeface="Open Sans" panose="020B0606030504020204" pitchFamily="34" charset="0"/>
                <a:ea typeface="Open Sans" panose="020B0606030504020204" pitchFamily="34" charset="0"/>
                <a:cs typeface="Open Sans" panose="020B0606030504020204" pitchFamily="34" charset="0"/>
              </a:rPr>
              <a:t>api</a:t>
            </a:r>
            <a:r>
              <a:rPr lang="en-US" sz="1600" dirty="0">
                <a:solidFill>
                  <a:srgbClr val="C00000"/>
                </a:solidFill>
                <a:latin typeface="Open Sans" panose="020B0606030504020204" pitchFamily="34" charset="0"/>
                <a:ea typeface="Open Sans" panose="020B0606030504020204" pitchFamily="34" charset="0"/>
                <a:cs typeface="Open Sans" panose="020B0606030504020204" pitchFamily="34" charset="0"/>
              </a:rPr>
              <a:t>/Employee/</a:t>
            </a:r>
            <a:r>
              <a:rPr lang="en-US" sz="1600" dirty="0" err="1">
                <a:solidFill>
                  <a:srgbClr val="C00000"/>
                </a:solidFill>
                <a:latin typeface="Open Sans" panose="020B0606030504020204" pitchFamily="34" charset="0"/>
                <a:ea typeface="Open Sans" panose="020B0606030504020204" pitchFamily="34" charset="0"/>
                <a:cs typeface="Open Sans" panose="020B0606030504020204" pitchFamily="34" charset="0"/>
              </a:rPr>
              <a:t>ListEmployees</a:t>
            </a:r>
            <a:endParaRPr lang="en-US" sz="16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a:p>
            <a:endParaRPr lang="en-US" sz="16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a:p>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525855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2400" dirty="0"/>
              <a:t>HTTP POST </a:t>
            </a:r>
          </a:p>
        </p:txBody>
      </p:sp>
      <p:sp>
        <p:nvSpPr>
          <p:cNvPr id="5" name="Content Placeholder 4"/>
          <p:cNvSpPr>
            <a:spLocks noGrp="1"/>
          </p:cNvSpPr>
          <p:nvPr>
            <p:ph sz="quarter" idx="1"/>
          </p:nvPr>
        </p:nvSpPr>
        <p:spPr/>
        <p:txBody>
          <a:bodyPr>
            <a:normAutofit/>
          </a:bodyPr>
          <a:lstStyle/>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This verb is used to create new data on the server. </a:t>
            </a:r>
          </a:p>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It is a write operation that adds a new resource to the server. </a:t>
            </a:r>
          </a:p>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A POST request is used to submit an entity to the specified resource, often causing a change in state on the server.</a:t>
            </a:r>
          </a:p>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Example:</a:t>
            </a:r>
          </a:p>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The following endpoint create or add the employee.</a:t>
            </a:r>
          </a:p>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 POST /</a:t>
            </a:r>
            <a:r>
              <a:rPr lang="en-US" sz="1600" b="0" i="0" dirty="0" err="1">
                <a:solidFill>
                  <a:srgbClr val="333333"/>
                </a:solidFill>
                <a:effectLst/>
                <a:latin typeface="Open Sans" panose="020B0606030504020204" pitchFamily="34" charset="0"/>
                <a:ea typeface="Open Sans" panose="020B0606030504020204" pitchFamily="34" charset="0"/>
                <a:cs typeface="Open Sans" panose="020B0606030504020204" pitchFamily="34" charset="0"/>
              </a:rPr>
              <a:t>api</a:t>
            </a:r>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/Employee/</a:t>
            </a:r>
            <a:r>
              <a:rPr lang="en-US" sz="1600" b="0" i="0" dirty="0" err="1">
                <a:solidFill>
                  <a:srgbClr val="333333"/>
                </a:solidFill>
                <a:effectLst/>
                <a:latin typeface="Open Sans" panose="020B0606030504020204" pitchFamily="34" charset="0"/>
                <a:ea typeface="Open Sans" panose="020B0606030504020204" pitchFamily="34" charset="0"/>
                <a:cs typeface="Open Sans" panose="020B0606030504020204" pitchFamily="34" charset="0"/>
              </a:rPr>
              <a:t>CreateEmployee</a:t>
            </a:r>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 .</a:t>
            </a:r>
            <a:endParaRPr lang="en-US" sz="1600" dirty="0">
              <a:solidFill>
                <a:srgbClr val="C00000"/>
              </a:solidFill>
              <a:latin typeface="Open Sans" panose="020B0606030504020204" pitchFamily="34" charset="0"/>
              <a:ea typeface="Open Sans" panose="020B0606030504020204" pitchFamily="34" charset="0"/>
              <a:cs typeface="Open Sans" panose="020B0606030504020204" pitchFamily="34" charset="0"/>
            </a:endParaRPr>
          </a:p>
          <a:p>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9588980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2400" dirty="0"/>
              <a:t>HTTP PUT </a:t>
            </a:r>
          </a:p>
        </p:txBody>
      </p:sp>
      <p:sp>
        <p:nvSpPr>
          <p:cNvPr id="5" name="Content Placeholder 4"/>
          <p:cNvSpPr>
            <a:spLocks noGrp="1"/>
          </p:cNvSpPr>
          <p:nvPr>
            <p:ph sz="quarter" idx="1"/>
          </p:nvPr>
        </p:nvSpPr>
        <p:spPr/>
        <p:txBody>
          <a:bodyPr>
            <a:normAutofit/>
          </a:bodyPr>
          <a:lstStyle/>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This verb is used to update existing data on the server.</a:t>
            </a:r>
          </a:p>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 It is a write operation that replaces an existing resource with a new one. </a:t>
            </a:r>
          </a:p>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A PUT request is used to update a resource with the client-provided data.</a:t>
            </a:r>
          </a:p>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Example: </a:t>
            </a:r>
          </a:p>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The following endpoint updates employee with ID 1.</a:t>
            </a:r>
          </a:p>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PUT /</a:t>
            </a:r>
            <a:r>
              <a:rPr lang="en-US" sz="1600" b="0" i="0" dirty="0" err="1">
                <a:solidFill>
                  <a:srgbClr val="333333"/>
                </a:solidFill>
                <a:effectLst/>
                <a:latin typeface="Open Sans" panose="020B0606030504020204" pitchFamily="34" charset="0"/>
                <a:ea typeface="Open Sans" panose="020B0606030504020204" pitchFamily="34" charset="0"/>
                <a:cs typeface="Open Sans" panose="020B0606030504020204" pitchFamily="34" charset="0"/>
              </a:rPr>
              <a:t>api</a:t>
            </a:r>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/Employee/</a:t>
            </a:r>
            <a:r>
              <a:rPr lang="en-US" sz="1600" b="0" i="0" dirty="0" err="1">
                <a:solidFill>
                  <a:srgbClr val="333333"/>
                </a:solidFill>
                <a:effectLst/>
                <a:latin typeface="Open Sans" panose="020B0606030504020204" pitchFamily="34" charset="0"/>
                <a:ea typeface="Open Sans" panose="020B0606030504020204" pitchFamily="34" charset="0"/>
                <a:cs typeface="Open Sans" panose="020B0606030504020204" pitchFamily="34" charset="0"/>
              </a:rPr>
              <a:t>updateEmployee</a:t>
            </a:r>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/1 .</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2239235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2400" dirty="0"/>
              <a:t>HTTP DELETE </a:t>
            </a:r>
          </a:p>
        </p:txBody>
      </p:sp>
      <p:sp>
        <p:nvSpPr>
          <p:cNvPr id="5" name="Content Placeholder 4"/>
          <p:cNvSpPr>
            <a:spLocks noGrp="1"/>
          </p:cNvSpPr>
          <p:nvPr>
            <p:ph sz="quarter" idx="1"/>
          </p:nvPr>
        </p:nvSpPr>
        <p:spPr/>
        <p:txBody>
          <a:bodyPr>
            <a:normAutofit/>
          </a:bodyPr>
          <a:lstStyle/>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This verb is used to delete data on the server. </a:t>
            </a:r>
          </a:p>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It is a write operation that removes a resource from the server. </a:t>
            </a:r>
          </a:p>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A DELETE request is used to delete a resource identified by a URI.</a:t>
            </a:r>
          </a:p>
          <a:p>
            <a:endPar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endParaRPr>
          </a:p>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Example:</a:t>
            </a:r>
          </a:p>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The following endpoint deletes employee with ID 1.</a:t>
            </a:r>
          </a:p>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 DELETE /</a:t>
            </a:r>
            <a:r>
              <a:rPr lang="en-US" sz="1600" b="0" i="0" dirty="0" err="1">
                <a:solidFill>
                  <a:srgbClr val="333333"/>
                </a:solidFill>
                <a:effectLst/>
                <a:latin typeface="Open Sans" panose="020B0606030504020204" pitchFamily="34" charset="0"/>
                <a:ea typeface="Open Sans" panose="020B0606030504020204" pitchFamily="34" charset="0"/>
                <a:cs typeface="Open Sans" panose="020B0606030504020204" pitchFamily="34" charset="0"/>
              </a:rPr>
              <a:t>api</a:t>
            </a:r>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/Employee/</a:t>
            </a:r>
            <a:r>
              <a:rPr lang="en-US" sz="1600" b="0" i="0" dirty="0" err="1">
                <a:solidFill>
                  <a:srgbClr val="333333"/>
                </a:solidFill>
                <a:effectLst/>
                <a:latin typeface="Open Sans" panose="020B0606030504020204" pitchFamily="34" charset="0"/>
                <a:ea typeface="Open Sans" panose="020B0606030504020204" pitchFamily="34" charset="0"/>
                <a:cs typeface="Open Sans" panose="020B0606030504020204" pitchFamily="34" charset="0"/>
              </a:rPr>
              <a:t>deleteEmloyee</a:t>
            </a:r>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/1.</a:t>
            </a:r>
            <a:endParaRPr lang="en-US" sz="16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5132227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2400" dirty="0"/>
              <a:t>Selecting The Appropriate Method</a:t>
            </a:r>
          </a:p>
        </p:txBody>
      </p:sp>
      <p:sp>
        <p:nvSpPr>
          <p:cNvPr id="5" name="Content Placeholder 4"/>
          <p:cNvSpPr>
            <a:spLocks noGrp="1"/>
          </p:cNvSpPr>
          <p:nvPr>
            <p:ph sz="quarter" idx="1"/>
          </p:nvPr>
        </p:nvSpPr>
        <p:spPr/>
        <p:txBody>
          <a:bodyPr>
            <a:normAutofit/>
          </a:bodyPr>
          <a:lstStyle/>
          <a:p>
            <a:r>
              <a:rPr lang="en-US" sz="1600" b="0" i="0" dirty="0">
                <a:solidFill>
                  <a:srgbClr val="333333"/>
                </a:solidFill>
                <a:effectLst/>
                <a:latin typeface="Open Sans" panose="020B0606030504020204" pitchFamily="34" charset="0"/>
                <a:ea typeface="Open Sans" panose="020B0606030504020204" pitchFamily="34" charset="0"/>
                <a:cs typeface="Open Sans" panose="020B0606030504020204" pitchFamily="34" charset="0"/>
              </a:rPr>
              <a:t>A large portion of application functionality can be summed up in the acronym CRUD, which stands for Create, Read, Update, Delete. There are four HTTP methods that correspond to these actions, one for each, like so:</a:t>
            </a:r>
          </a:p>
          <a:p>
            <a:r>
              <a:rPr lang="en-US" sz="1600" dirty="0">
                <a:latin typeface="Open Sans" panose="020B0606030504020204" pitchFamily="34" charset="0"/>
                <a:ea typeface="Open Sans" panose="020B0606030504020204" pitchFamily="34" charset="0"/>
                <a:cs typeface="Open Sans" panose="020B0606030504020204" pitchFamily="34" charset="0"/>
              </a:rPr>
              <a:t>C - Create - POST</a:t>
            </a:r>
          </a:p>
          <a:p>
            <a:r>
              <a:rPr lang="en-US" sz="1600" dirty="0">
                <a:latin typeface="Open Sans" panose="020B0606030504020204" pitchFamily="34" charset="0"/>
                <a:ea typeface="Open Sans" panose="020B0606030504020204" pitchFamily="34" charset="0"/>
                <a:cs typeface="Open Sans" panose="020B0606030504020204" pitchFamily="34" charset="0"/>
              </a:rPr>
              <a:t>R - Read - GET</a:t>
            </a:r>
          </a:p>
          <a:p>
            <a:r>
              <a:rPr lang="en-US" sz="1600" dirty="0">
                <a:latin typeface="Open Sans" panose="020B0606030504020204" pitchFamily="34" charset="0"/>
                <a:ea typeface="Open Sans" panose="020B0606030504020204" pitchFamily="34" charset="0"/>
                <a:cs typeface="Open Sans" panose="020B0606030504020204" pitchFamily="34" charset="0"/>
              </a:rPr>
              <a:t>U - Update - PUT</a:t>
            </a:r>
          </a:p>
          <a:p>
            <a:r>
              <a:rPr lang="en-US" sz="1600" dirty="0">
                <a:latin typeface="Open Sans" panose="020B0606030504020204" pitchFamily="34" charset="0"/>
                <a:ea typeface="Open Sans" panose="020B0606030504020204" pitchFamily="34" charset="0"/>
                <a:cs typeface="Open Sans" panose="020B0606030504020204" pitchFamily="34" charset="0"/>
              </a:rPr>
              <a:t>D - Delete - DELETE</a:t>
            </a:r>
          </a:p>
        </p:txBody>
      </p:sp>
    </p:spTree>
    <p:extLst>
      <p:ext uri="{BB962C8B-B14F-4D97-AF65-F5344CB8AC3E}">
        <p14:creationId xmlns:p14="http://schemas.microsoft.com/office/powerpoint/2010/main" val="235935607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Median</Template>
  <TotalTime>11449</TotalTime>
  <Words>2313</Words>
  <Application>Microsoft Office PowerPoint</Application>
  <PresentationFormat>On-screen Show (4:3)</PresentationFormat>
  <Paragraphs>295</Paragraphs>
  <Slides>27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Calibri</vt:lpstr>
      <vt:lpstr>Courier New</vt:lpstr>
      <vt:lpstr>Open Sans</vt:lpstr>
      <vt:lpstr>Segoe UI</vt:lpstr>
      <vt:lpstr>Tw Cen MT</vt:lpstr>
      <vt:lpstr>Wingdings</vt:lpstr>
      <vt:lpstr>Wingdings 2</vt:lpstr>
      <vt:lpstr>Median</vt:lpstr>
      <vt:lpstr> What is REST</vt:lpstr>
      <vt:lpstr> Key REST Principles</vt:lpstr>
      <vt:lpstr> Key REST Principles</vt:lpstr>
      <vt:lpstr> Key REST Principles</vt:lpstr>
      <vt:lpstr> Key REST Principles</vt:lpstr>
      <vt:lpstr> Key REST Principles</vt:lpstr>
      <vt:lpstr> Key REST Principles</vt:lpstr>
      <vt:lpstr> Key REST Principles</vt:lpstr>
      <vt:lpstr>  RESTful vs Non-RESTful APIs</vt:lpstr>
      <vt:lpstr>  Example — REST in Action (E-Commerce)</vt:lpstr>
      <vt:lpstr> Key REST Principles</vt:lpstr>
      <vt:lpstr> What is Web API/Rest API</vt:lpstr>
      <vt:lpstr> Key Characteristics of Web APIs</vt:lpstr>
      <vt:lpstr>ASP.NET Core Web API?</vt:lpstr>
      <vt:lpstr>ASP.NET Core Web API Features</vt:lpstr>
      <vt:lpstr>Why Use ASP.NET Core for Web API?</vt:lpstr>
      <vt:lpstr>Explanation of Layers:</vt:lpstr>
      <vt:lpstr>request/response pipeline in  Asp.net Core Web API</vt:lpstr>
      <vt:lpstr>How a Request Flows in ASP.NET Core Web API</vt:lpstr>
      <vt:lpstr> Asp.net Core API Useful Features</vt:lpstr>
      <vt:lpstr>HTTP Verbs in ASP.NET Core Web API</vt:lpstr>
      <vt:lpstr>HTTP Verbs in ASP.NET Core Web API</vt:lpstr>
      <vt:lpstr>HTTP GET</vt:lpstr>
      <vt:lpstr>HTTP POST </vt:lpstr>
      <vt:lpstr>HTTP PUT </vt:lpstr>
      <vt:lpstr>HTTP DELETE </vt:lpstr>
      <vt:lpstr>Selecting The Appropriate Method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WCF Instance Management</dc:title>
  <dc:creator>Admin</dc:creator>
  <cp:lastModifiedBy>Santhosh Kumar</cp:lastModifiedBy>
  <cp:revision>141</cp:revision>
  <dcterms:created xsi:type="dcterms:W3CDTF">2006-08-16T00:00:00Z</dcterms:created>
  <dcterms:modified xsi:type="dcterms:W3CDTF">2025-10-08T07:33:15Z</dcterms:modified>
</cp:coreProperties>
</file>