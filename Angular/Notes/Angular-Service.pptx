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8"/>
  </p:notesMasterIdLst>
  <p:sldIdLst>
    <p:sldId id="256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918" autoAdjust="0"/>
  </p:normalViewPr>
  <p:slideViewPr>
    <p:cSldViewPr>
      <p:cViewPr varScale="1">
        <p:scale>
          <a:sx n="63" d="100"/>
          <a:sy n="63" d="100"/>
        </p:scale>
        <p:origin x="13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E9330-9392-43C4-950A-D5CED98CCE45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3CD1D-C9AF-4900-92F4-C32D639F7F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8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B078-E6DA-5AF4-D356-F6080A16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1C855-3235-D132-0C67-262B9BCBC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9A8F7-0BDB-ABBE-D363-F1C620883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87488-32D6-5653-1052-9499610F4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2468-4B89-CD10-0721-949599D9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211393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3841-9687-836E-6AAF-E26C7CA5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B193A-BA95-564F-2AFB-C58FAA84C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A4687-B926-7282-0EE9-3492C86A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B91E-54BA-5E62-BFE6-A4B95B987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FC82E-0FC4-4084-7435-18231648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1284932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344C-4A14-61A1-946E-A6616941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A5C86-1A10-0F38-F284-B44CBD2D4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EBB71-D2FE-BACA-B5BC-817ACB0B9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72E8F-CA7C-25D6-9A04-BE9850E08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2FA07-1AC5-6966-01DA-C7A52601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1026479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969C-3EFC-12FD-2960-DB55DDAA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E10A7-74C0-7129-2335-04C661A93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5C7C5-4EF6-D340-41E5-9268B3DC4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E7213-C375-F522-2247-102AB6E01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D0EBB-99E8-419E-7FF8-AC997119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83152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9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1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1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1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7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1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1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3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8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9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9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9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9" y="144463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57189" y="6215064"/>
            <a:ext cx="1643063" cy="500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  <a:defRPr/>
            </a:pPr>
            <a:endParaRPr lang="he-IL">
              <a:solidFill>
                <a:prstClr val="white"/>
              </a:solidFill>
            </a:endParaRPr>
          </a:p>
        </p:txBody>
      </p:sp>
      <p:pic>
        <p:nvPicPr>
          <p:cNvPr id="5" name="Picture 5" descr="DevAcademy3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214314"/>
            <a:ext cx="2590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5984" y="2928935"/>
            <a:ext cx="6500859" cy="1643074"/>
          </a:xfrm>
        </p:spPr>
        <p:txBody>
          <a:bodyPr anchor="t"/>
          <a:lstStyle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5072075"/>
            <a:ext cx="6400800" cy="1643050"/>
          </a:xfrm>
        </p:spPr>
        <p:txBody>
          <a:bodyPr/>
          <a:lstStyle>
            <a:lvl1pPr marL="0" indent="0" algn="l"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3028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3" y="71414"/>
            <a:ext cx="8715436" cy="85725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3" y="1142985"/>
            <a:ext cx="8715436" cy="52864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4838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evAcademy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5416551"/>
            <a:ext cx="2590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5" y="2143117"/>
            <a:ext cx="7772400" cy="1143008"/>
          </a:xfrm>
        </p:spPr>
        <p:txBody>
          <a:bodyPr anchor="t">
            <a:noAutofit/>
          </a:bodyPr>
          <a:lstStyle>
            <a:lvl1pPr algn="l" rtl="0">
              <a:defRPr sz="8800" b="1" cap="all"/>
            </a:lvl1pPr>
          </a:lstStyle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035" y="3357563"/>
            <a:ext cx="7772400" cy="879477"/>
          </a:xfrm>
        </p:spPr>
        <p:txBody>
          <a:bodyPr anchor="b">
            <a:normAutofit/>
          </a:bodyPr>
          <a:lstStyle>
            <a:lvl1pPr marL="0" indent="0">
              <a:buNone/>
              <a:defRPr sz="3600" b="1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8885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285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58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1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6248207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49" y="1280160"/>
            <a:ext cx="8553451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image1.jpe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876"/>
            <a:ext cx="9144000" cy="64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715375" cy="7254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4314" y="1000125"/>
            <a:ext cx="8715375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62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rgbClr val="FF99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FF9900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Angular Services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</a:t>
            </a:r>
            <a:r>
              <a:rPr lang="en-US" sz="2000" b="1" dirty="0"/>
              <a:t>Angular</a:t>
            </a:r>
            <a:r>
              <a:rPr lang="en-US" sz="2000" dirty="0"/>
              <a:t>, a </a:t>
            </a:r>
            <a:r>
              <a:rPr lang="en-US" sz="2000" b="1" dirty="0"/>
              <a:t>service</a:t>
            </a:r>
            <a:r>
              <a:rPr lang="en-US" sz="2000" dirty="0"/>
              <a:t> is a </a:t>
            </a:r>
            <a:r>
              <a:rPr lang="en-US" sz="2000" b="1" dirty="0"/>
              <a:t>reusable TypeScript class</a:t>
            </a:r>
            <a:r>
              <a:rPr lang="en-US" sz="2000" dirty="0"/>
              <a:t> used to </a:t>
            </a:r>
            <a:r>
              <a:rPr lang="en-US" sz="2000" b="1" dirty="0"/>
              <a:t>encapsulate business logic</a:t>
            </a:r>
            <a:r>
              <a:rPr lang="en-US" sz="2000" dirty="0"/>
              <a:t>, </a:t>
            </a:r>
            <a:r>
              <a:rPr lang="en-US" sz="2000" b="1" dirty="0"/>
              <a:t>share data</a:t>
            </a:r>
            <a:r>
              <a:rPr lang="en-US" sz="2000" dirty="0"/>
              <a:t>, or </a:t>
            </a:r>
            <a:r>
              <a:rPr lang="en-US" sz="2000" b="1" dirty="0"/>
              <a:t>interact with APIs</a:t>
            </a:r>
            <a:r>
              <a:rPr lang="en-US" sz="2000" dirty="0"/>
              <a:t> across components.</a:t>
            </a:r>
          </a:p>
          <a:p>
            <a:r>
              <a:rPr lang="en-US" sz="2000" dirty="0"/>
              <a:t>Why Use Services?</a:t>
            </a:r>
          </a:p>
          <a:p>
            <a:r>
              <a:rPr lang="en-US" sz="2000" dirty="0"/>
              <a:t>Separate concerns (e.g., keep API logic out of components)</a:t>
            </a:r>
          </a:p>
          <a:p>
            <a:r>
              <a:rPr lang="en-US" sz="2000" dirty="0"/>
              <a:t>Share data between components</a:t>
            </a:r>
          </a:p>
          <a:p>
            <a:r>
              <a:rPr lang="en-US" sz="2000" dirty="0"/>
              <a:t>Write reusable business logic</a:t>
            </a:r>
          </a:p>
          <a:p>
            <a:r>
              <a:rPr lang="en-US" sz="2000" dirty="0"/>
              <a:t>Improve testability and maintainability</a:t>
            </a:r>
          </a:p>
          <a:p>
            <a:r>
              <a:rPr lang="en-US" sz="2000" dirty="0"/>
              <a:t>Features</a:t>
            </a:r>
          </a:p>
          <a:p>
            <a:endParaRPr lang="en-US" sz="2000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5F304A-2A0A-6970-65C2-C01B394DF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165454"/>
              </p:ext>
            </p:extLst>
          </p:nvPr>
        </p:nvGraphicFramePr>
        <p:xfrm>
          <a:off x="612648" y="4734560"/>
          <a:ext cx="8153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3129818193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203590986"/>
                    </a:ext>
                  </a:extLst>
                </a:gridCol>
              </a:tblGrid>
              <a:tr h="344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696754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@Injectable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Decorator to define a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048118"/>
                  </a:ext>
                </a:extLst>
              </a:tr>
              <a:tr h="594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providedIn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Scope of the service ('root’(// Makes service available app-wide)/module/component)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116951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Dependency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Injected where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44635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Services can be shared across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6166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7903-A654-B458-B105-CBA878B5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761F66-6F30-8B6B-5500-9B31CADF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Angular Services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090C7A-D115-9AEF-6C97-7E59214C6C2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b="1" dirty="0"/>
              <a:t>1. Code Reusability</a:t>
            </a:r>
          </a:p>
          <a:p>
            <a:r>
              <a:rPr lang="en-US" sz="2000" dirty="0"/>
              <a:t>Instead of writing the same logic in multiple components, you can write it once in a service and inject it wherever needed.</a:t>
            </a:r>
            <a:br>
              <a:rPr lang="en-US" sz="2000" dirty="0"/>
            </a:br>
            <a:r>
              <a:rPr lang="en-US" sz="2000" dirty="0"/>
              <a:t>✅ Example: A </a:t>
            </a:r>
            <a:r>
              <a:rPr lang="en-US" dirty="0" err="1"/>
              <a:t>UserService</a:t>
            </a:r>
            <a:r>
              <a:rPr lang="en-US" sz="2000" dirty="0"/>
              <a:t> that fetches users can be used in multiple components (e.g., </a:t>
            </a:r>
            <a:r>
              <a:rPr lang="en-US" dirty="0" err="1"/>
              <a:t>UserListComponent</a:t>
            </a:r>
            <a:r>
              <a:rPr lang="en-US" sz="2000" dirty="0"/>
              <a:t>, </a:t>
            </a:r>
            <a:r>
              <a:rPr lang="en-US" dirty="0" err="1"/>
              <a:t>UserDetailComponent</a:t>
            </a:r>
            <a:r>
              <a:rPr lang="en-US" sz="2000" dirty="0"/>
              <a:t>).</a:t>
            </a:r>
          </a:p>
          <a:p>
            <a:r>
              <a:rPr lang="en-US" sz="2000" b="1" dirty="0"/>
              <a:t>2. Separation of Concerns</a:t>
            </a:r>
          </a:p>
          <a:p>
            <a:r>
              <a:rPr lang="en-US" sz="2000" dirty="0"/>
              <a:t>Components should handle </a:t>
            </a:r>
            <a:r>
              <a:rPr lang="en-US" sz="2000" b="1" dirty="0"/>
              <a:t>UI logic only</a:t>
            </a:r>
            <a:r>
              <a:rPr lang="en-US" sz="2000" dirty="0"/>
              <a:t>.</a:t>
            </a:r>
          </a:p>
          <a:p>
            <a:r>
              <a:rPr lang="en-US" sz="2000" dirty="0"/>
              <a:t>Services handle </a:t>
            </a:r>
            <a:r>
              <a:rPr lang="en-US" sz="2000" b="1" dirty="0"/>
              <a:t>business logic &amp; data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✅ This keeps your code clean, testable, and easy to maintain.</a:t>
            </a:r>
          </a:p>
          <a:p>
            <a:r>
              <a:rPr lang="en-US" sz="2000" b="1" dirty="0"/>
              <a:t>3. Dependency Injection (DI)</a:t>
            </a:r>
          </a:p>
          <a:p>
            <a:r>
              <a:rPr lang="en-US" sz="2000" dirty="0"/>
              <a:t>Angular provides services to components through DI.</a:t>
            </a:r>
          </a:p>
          <a:p>
            <a:r>
              <a:rPr lang="en-US" sz="2000" dirty="0"/>
              <a:t>You don’t need to create objects manually (</a:t>
            </a:r>
            <a:r>
              <a:rPr lang="en-US" dirty="0"/>
              <a:t>new</a:t>
            </a:r>
            <a:r>
              <a:rPr lang="en-US" sz="2000" dirty="0"/>
              <a:t> keyword), Angular handles the service lifecycle.</a:t>
            </a:r>
            <a:br>
              <a:rPr lang="en-US" sz="2000" dirty="0"/>
            </a:br>
            <a:r>
              <a:rPr lang="en-US" sz="2000" dirty="0"/>
              <a:t>✅ Example: Injecting </a:t>
            </a:r>
            <a:r>
              <a:rPr lang="en-US" dirty="0" err="1"/>
              <a:t>HttpClient</a:t>
            </a:r>
            <a:r>
              <a:rPr lang="en-US" sz="2000" dirty="0"/>
              <a:t> into a service to make API calls.</a:t>
            </a:r>
          </a:p>
          <a:p>
            <a:endParaRPr lang="en-US" sz="2000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89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A209-28F9-5913-6564-8F7D66B5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321FA2-A0AD-9332-2379-598445D5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Angular Services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C3861A-BD88-8E83-E190-927D791E114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400" b="1" dirty="0"/>
              <a:t>4. Data Sharing Between Components</a:t>
            </a:r>
          </a:p>
          <a:p>
            <a:r>
              <a:rPr lang="en-US" sz="3400" dirty="0"/>
              <a:t>Services make it possible to share data between unrelated components.</a:t>
            </a:r>
            <a:br>
              <a:rPr lang="en-US" sz="3400" dirty="0"/>
            </a:br>
            <a:r>
              <a:rPr lang="en-US" sz="3400" dirty="0"/>
              <a:t>✅ Example: A </a:t>
            </a:r>
            <a:r>
              <a:rPr lang="en-US" sz="3400" dirty="0" err="1"/>
              <a:t>CartService</a:t>
            </a:r>
            <a:r>
              <a:rPr lang="en-US" sz="3400" dirty="0"/>
              <a:t> can store cart items, and both </a:t>
            </a:r>
            <a:r>
              <a:rPr lang="en-US" sz="3400" dirty="0" err="1"/>
              <a:t>ProductListComponent</a:t>
            </a:r>
            <a:r>
              <a:rPr lang="en-US" sz="3400" dirty="0"/>
              <a:t> and </a:t>
            </a:r>
            <a:r>
              <a:rPr lang="en-US" sz="3400" dirty="0" err="1"/>
              <a:t>CartComponent</a:t>
            </a:r>
            <a:r>
              <a:rPr lang="en-US" sz="3400" dirty="0"/>
              <a:t> can use it.</a:t>
            </a:r>
          </a:p>
          <a:p>
            <a:r>
              <a:rPr lang="en-US" sz="3400" b="1" dirty="0"/>
              <a:t>5. Easy Testing</a:t>
            </a:r>
          </a:p>
          <a:p>
            <a:r>
              <a:rPr lang="en-US" sz="3400" dirty="0"/>
              <a:t>Since services are separate from UI logic, they can be tested independently.</a:t>
            </a:r>
            <a:br>
              <a:rPr lang="en-US" sz="3400" dirty="0"/>
            </a:br>
            <a:r>
              <a:rPr lang="en-US" sz="3400" dirty="0"/>
              <a:t>✅ Example: You can test if </a:t>
            </a:r>
            <a:r>
              <a:rPr lang="en-US" sz="3400" dirty="0" err="1"/>
              <a:t>OrderService.placeOrder</a:t>
            </a:r>
            <a:r>
              <a:rPr lang="en-US" sz="3400" dirty="0"/>
              <a:t>() sends a request without worrying about UI.</a:t>
            </a:r>
          </a:p>
          <a:p>
            <a:r>
              <a:rPr lang="en-US" sz="3400" b="1" dirty="0"/>
              <a:t>6. Single Source of Truth</a:t>
            </a:r>
          </a:p>
          <a:p>
            <a:r>
              <a:rPr lang="en-US" sz="3400" dirty="0"/>
              <a:t>Instead of each component managing its own copy of data, services maintain a </a:t>
            </a:r>
            <a:r>
              <a:rPr lang="en-US" sz="3400" b="1" dirty="0"/>
              <a:t>centralized data store</a:t>
            </a:r>
            <a:r>
              <a:rPr lang="en-US" sz="3400" dirty="0"/>
              <a:t>.</a:t>
            </a:r>
            <a:br>
              <a:rPr lang="en-US" sz="3400" dirty="0"/>
            </a:br>
            <a:r>
              <a:rPr lang="en-US" sz="3400" dirty="0"/>
              <a:t>✅ Example: A </a:t>
            </a:r>
            <a:r>
              <a:rPr lang="en-US" sz="3400" dirty="0" err="1"/>
              <a:t>AuthService</a:t>
            </a:r>
            <a:r>
              <a:rPr lang="en-US" sz="3400" dirty="0"/>
              <a:t> keeps track of whether a user is logged in.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1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723D-13D1-4025-DBAF-E20DD48B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9EDB6-F143-827E-2991-0291917B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Service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C4BCDC-549C-CE48-72DD-744C28C150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based on how they handle async data (like using Promise or Observable).</a:t>
            </a:r>
          </a:p>
          <a:p>
            <a:r>
              <a:rPr lang="en-US" sz="2000" dirty="0"/>
              <a:t>1. </a:t>
            </a:r>
            <a:r>
              <a:rPr lang="en-US" sz="2000" b="1" dirty="0"/>
              <a:t>Promise-based Services</a:t>
            </a:r>
          </a:p>
          <a:p>
            <a:r>
              <a:rPr lang="en-US" sz="2000" dirty="0"/>
              <a:t>A </a:t>
            </a:r>
            <a:r>
              <a:rPr lang="en-US" sz="2000" b="1" dirty="0"/>
              <a:t>Promise</a:t>
            </a:r>
            <a:r>
              <a:rPr lang="en-US" sz="2000" dirty="0"/>
              <a:t> represents a single value that will be resolved (success) or rejected (error) in the future.</a:t>
            </a:r>
          </a:p>
          <a:p>
            <a:r>
              <a:rPr lang="en-US" sz="2000" dirty="0"/>
              <a:t>Once a promise is resolved or rejected, it </a:t>
            </a:r>
            <a:r>
              <a:rPr lang="en-US" sz="2000" b="1" dirty="0"/>
              <a:t>cannot be changed</a:t>
            </a:r>
            <a:r>
              <a:rPr lang="en-US" sz="2000" dirty="0"/>
              <a:t>.</a:t>
            </a:r>
          </a:p>
          <a:p>
            <a:r>
              <a:rPr lang="en-US" sz="2000" dirty="0"/>
              <a:t>Good for </a:t>
            </a:r>
            <a:r>
              <a:rPr lang="en-US" sz="2000" b="1" dirty="0"/>
              <a:t>one-time async operations</a:t>
            </a:r>
            <a:r>
              <a:rPr lang="en-US" sz="2000" dirty="0"/>
              <a:t> (like getting data once).</a:t>
            </a:r>
            <a:endParaRPr lang="en-US" sz="2000" b="1" dirty="0"/>
          </a:p>
          <a:p>
            <a:r>
              <a:rPr lang="en-US" sz="2000" dirty="0"/>
              <a:t>2. </a:t>
            </a:r>
            <a:r>
              <a:rPr lang="en-US" sz="2000" b="1" dirty="0"/>
              <a:t>Observable-based Services (</a:t>
            </a:r>
            <a:r>
              <a:rPr lang="en-US" sz="2000" b="1" dirty="0" err="1"/>
              <a:t>RxJS</a:t>
            </a:r>
            <a:r>
              <a:rPr lang="en-US" sz="2000" b="1" dirty="0"/>
              <a:t>)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Observable</a:t>
            </a:r>
            <a:r>
              <a:rPr lang="en-US" sz="2000" dirty="0"/>
              <a:t> can emit </a:t>
            </a:r>
            <a:r>
              <a:rPr lang="en-US" sz="2000" b="1" dirty="0"/>
              <a:t>multiple values over time</a:t>
            </a:r>
            <a:r>
              <a:rPr lang="en-US" sz="2000" dirty="0"/>
              <a:t>.</a:t>
            </a:r>
          </a:p>
          <a:p>
            <a:r>
              <a:rPr lang="en-US" sz="2000" dirty="0"/>
              <a:t>Supports operators (map, filter, merge, etc.) for powerful async handling.</a:t>
            </a:r>
          </a:p>
          <a:p>
            <a:r>
              <a:rPr lang="en-US" sz="2000" dirty="0" err="1"/>
              <a:t>Angular’s</a:t>
            </a:r>
            <a:r>
              <a:rPr lang="en-US" sz="2000" dirty="0"/>
              <a:t> </a:t>
            </a:r>
            <a:r>
              <a:rPr lang="en-US" sz="2000" dirty="0" err="1"/>
              <a:t>HttpClient</a:t>
            </a:r>
            <a:r>
              <a:rPr lang="en-US" sz="2000" dirty="0"/>
              <a:t> returns Observables by default.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1721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0A66-D2BF-507D-9AD8-0D40D54C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67E8D8-1521-7AD8-4E36-1DCE5A23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Service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C17366-DE08-0684-ABC8-B901B1D923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Comparison: Promise vs Observable</a:t>
            </a:r>
          </a:p>
          <a:p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52AB7C-4BE8-CE9D-EED3-AD6BC611A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066608"/>
              </p:ext>
            </p:extLst>
          </p:nvPr>
        </p:nvGraphicFramePr>
        <p:xfrm>
          <a:off x="457200" y="2400300"/>
          <a:ext cx="84582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74250624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01176569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087380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Observable (RxJS)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73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Resolves </a:t>
                      </a:r>
                      <a:r>
                        <a:rPr lang="en-US" b="1"/>
                        <a:t>one value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Emits </a:t>
                      </a:r>
                      <a:r>
                        <a:rPr lang="en-US" b="1"/>
                        <a:t>multiple values over time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11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Cancelable?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unsubscribe()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112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Lazy/Eager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Eager (runs immediately)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Lazy (runs only when subscribed)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82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Operators (map, filter…)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One-time async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Streams, events, API calls,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67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629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8695</TotalTime>
  <Words>549</Words>
  <Application>Microsoft Office PowerPoint</Application>
  <PresentationFormat>On-screen Show (4:3)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Courier New</vt:lpstr>
      <vt:lpstr>Tw Cen MT</vt:lpstr>
      <vt:lpstr>Wingdings</vt:lpstr>
      <vt:lpstr>Wingdings 2</vt:lpstr>
      <vt:lpstr>Median</vt:lpstr>
      <vt:lpstr>Custom Design</vt:lpstr>
      <vt:lpstr>Angular Services</vt:lpstr>
      <vt:lpstr>Angular Services</vt:lpstr>
      <vt:lpstr>Angular Services</vt:lpstr>
      <vt:lpstr>Types of Service</vt:lpstr>
      <vt:lpstr>Types of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santuparsi</dc:creator>
  <cp:lastModifiedBy>santhosh kumar</cp:lastModifiedBy>
  <cp:revision>423</cp:revision>
  <dcterms:created xsi:type="dcterms:W3CDTF">2006-08-16T00:00:00Z</dcterms:created>
  <dcterms:modified xsi:type="dcterms:W3CDTF">2025-09-14T16:40:27Z</dcterms:modified>
</cp:coreProperties>
</file>